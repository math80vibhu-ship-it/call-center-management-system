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4"/>
  </p:sldMasterIdLst>
  <p:notesMasterIdLst>
    <p:notesMasterId r:id="rId5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442" r:id="rId36"/>
    <p:sldId id="441" r:id="rId37"/>
    <p:sldId id="443" r:id="rId38"/>
    <p:sldId id="444" r:id="rId39"/>
    <p:sldId id="445" r:id="rId40"/>
    <p:sldId id="446" r:id="rId41"/>
    <p:sldId id="447" r:id="rId42"/>
    <p:sldId id="448" r:id="rId43"/>
    <p:sldId id="449" r:id="rId44"/>
    <p:sldId id="450" r:id="rId45"/>
    <p:sldId id="451" r:id="rId46"/>
    <p:sldId id="452" r:id="rId47"/>
    <p:sldId id="453" r:id="rId48"/>
    <p:sldId id="287" r:id="rId49"/>
    <p:sldId id="288" r:id="rId50"/>
    <p:sldId id="289" r:id="rId51"/>
    <p:sldId id="290" r:id="rId52"/>
    <p:sldId id="291" r:id="rId53"/>
    <p:sldId id="292" r:id="rId54"/>
    <p:sldId id="295" r:id="rId55"/>
    <p:sldId id="296" r:id="rId56"/>
    <p:sldId id="440" r:id="rId5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095501-73F2-41BA-85CC-22557878FAFE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130DD-32EB-4721-81EC-BC5717B4C7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249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87468"/>
            <a:ext cx="7315200" cy="1946269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74898"/>
            <a:ext cx="7315200" cy="858474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CF4FB-18BC-45AD-A541-DB3C96999996}" type="datetime1">
              <a:rPr lang="en-US" smtClean="0"/>
              <a:t>9/15/2026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5638800" y="4781550"/>
            <a:ext cx="2246489" cy="225920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fr-FR"/>
              <a:t>Dr. Rajesh M, SCOPE, VIT Chennai.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1864-4914-4A41-904F-2EE9DD8BF871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77000" y="4781550"/>
            <a:ext cx="2246489" cy="225920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fr-FR"/>
              <a:t>Dr. Rajesh M, SCOPE, VIT Chennai.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763179"/>
            <a:ext cx="7315200" cy="970194"/>
          </a:xfrm>
        </p:spPr>
        <p:txBody>
          <a:bodyPr anchor="t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898823"/>
            <a:ext cx="7315200" cy="82382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652E-B493-439C-900E-BB5F1DD6EA4C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Dr. Rajesh M, SCOPE, VIT Chennai.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285F7-BCF6-499B-A6AF-B339A7AD37DE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Dr. Rajesh M, SCOPE, VIT Chennai.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158537"/>
            <a:ext cx="7315200" cy="8655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057400"/>
            <a:ext cx="3566160" cy="2695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057401"/>
            <a:ext cx="3566160" cy="26967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057400"/>
            <a:ext cx="3364992" cy="466344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4" y="2057400"/>
            <a:ext cx="3362062" cy="466344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00659-C9D5-47B1-A4A2-9599C74E9AAE}" type="datetime1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Dr. Rajesh M, SCOPE, VIT Chennai.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158537"/>
            <a:ext cx="7315200" cy="8655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2537460"/>
            <a:ext cx="3566160" cy="2215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2537460"/>
            <a:ext cx="3566160" cy="2215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D5614-F230-4A3B-AB73-B0F36AA73D47}" type="datetime1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Dr. Rajesh M, SCOPE, VIT Chennai.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35B3-605A-4973-A4FF-3B2F41BF3CE5}" type="datetime1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Dr. Rajesh M, SCOPE, VIT Chennai.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369022"/>
            <a:ext cx="2950936" cy="1629761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370032"/>
            <a:ext cx="4207848" cy="3357461"/>
          </a:xfrm>
        </p:spPr>
        <p:txBody>
          <a:bodyPr anchor="ctr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045822"/>
            <a:ext cx="2950936" cy="168404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8947F-B300-4AA3-8E1A-945D91460AE8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Dr. Rajesh M, SCOPE, VIT Chennai.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2953512" cy="1632204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1714500"/>
            <a:ext cx="4038600" cy="25146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044952"/>
            <a:ext cx="2953512" cy="168706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FFFC3-F3DF-470B-AFCF-83C65E604AA3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Dr. Rajesh M, SCOPE, VIT Chennai.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AB65A-2912-4920-BE09-7D4DA5B88ABE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Dr. Rajesh M, SCOPE, VIT Chennai.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1" y="1370032"/>
            <a:ext cx="1492499" cy="33633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370032"/>
            <a:ext cx="5241476" cy="33633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6C2F-5FC2-4D8F-87DA-40A1FF1E8BFB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Dr. Rajesh M, SCOPE, VIT Chennai.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430355"/>
            <a:ext cx="86236" cy="4292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69419" y="430355"/>
            <a:ext cx="576072" cy="4292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158537"/>
            <a:ext cx="7315200" cy="8655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077375"/>
            <a:ext cx="7315200" cy="2654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0" y="411597"/>
            <a:ext cx="1189132" cy="2234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9822A0A4-A495-4D59-8ED9-DCE2FE9F7DA1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6" y="411598"/>
            <a:ext cx="941203" cy="226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9" y="641968"/>
            <a:ext cx="2246489" cy="225920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fr-FR"/>
              <a:t>Dr. Rajesh M, SCOPE, VIT Chennai.</a:t>
            </a:r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209550"/>
            <a:ext cx="8610600" cy="685800"/>
          </a:xfrm>
        </p:spPr>
        <p:txBody>
          <a:bodyPr>
            <a:noAutofit/>
          </a:bodyPr>
          <a:lstStyle/>
          <a:p>
            <a:pPr algn="ctr"/>
            <a:r>
              <a:rPr lang="en-IN" sz="3600" b="1" dirty="0">
                <a:cs typeface="Times New Roman" panose="02020603050405020304" pitchFamily="18" charset="0"/>
              </a:rPr>
              <a:t>BACSE202: Database Systems Lab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1733550"/>
            <a:ext cx="7924800" cy="2209800"/>
          </a:xfrm>
        </p:spPr>
        <p:txBody>
          <a:bodyPr>
            <a:noAutofit/>
          </a:bodyPr>
          <a:lstStyle/>
          <a:p>
            <a:pPr algn="ctr"/>
            <a:r>
              <a:rPr lang="en-US" sz="3800" b="1" dirty="0">
                <a:solidFill>
                  <a:srgbClr val="FFFF00"/>
                </a:solidFill>
                <a:latin typeface="+mj-lt"/>
              </a:rPr>
              <a:t>Interface the Database with Front Ends using ODBC and JDBC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6897511" y="478155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1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20393" y="57150"/>
            <a:ext cx="286649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 b="0"/>
            </a:pPr>
            <a:r>
              <a:rPr lang="en-IN" sz="2400" b="1" dirty="0"/>
              <a:t>Oracle SQL*Plus vs JDBC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350" y="465358"/>
            <a:ext cx="8092440" cy="4416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/>
            </a:pPr>
            <a:r>
              <a:rPr lang="en-IN" sz="2100" b="1" dirty="0"/>
              <a:t>SQL*Plus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lang="en-IN" sz="2100" b="1" dirty="0"/>
              <a:t>Used to create tables and database objects. 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lang="en-IN" sz="2100" b="1" dirty="0"/>
              <a:t>Used to insert initial/sample data. 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lang="en-IN" sz="2100" b="1" dirty="0"/>
              <a:t>Used to test SQL statements directly. 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lang="en-IN" sz="2100" b="1" dirty="0"/>
              <a:t>Used to execute COMMIT, ROLLBACK, etc. </a:t>
            </a:r>
          </a:p>
          <a:p>
            <a:pPr>
              <a:spcAft>
                <a:spcPts val="600"/>
              </a:spcAft>
              <a:defRPr sz="1800" b="0"/>
            </a:pPr>
            <a:r>
              <a:rPr lang="en-IN" sz="2100" b="1" dirty="0"/>
              <a:t>JDBC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lang="en-IN" sz="2100" b="1" dirty="0"/>
              <a:t>Used by Java applications to connect to Oracle. 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lang="en-IN" sz="2100" b="1" dirty="0"/>
              <a:t>Java sends SQL statements to Oracle. 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lang="en-IN" sz="2100" b="1" dirty="0" err="1"/>
              <a:t>ResultSet</a:t>
            </a:r>
            <a:r>
              <a:rPr lang="en-IN" sz="2100" b="1" dirty="0"/>
              <a:t> handles retrieved rows. 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lang="en-IN" sz="2100" b="1" dirty="0" err="1"/>
              <a:t>PreparedStatement</a:t>
            </a:r>
            <a:r>
              <a:rPr lang="en-IN" sz="2100" b="1" dirty="0"/>
              <a:t> handles parameterized SQL. 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lang="en-IN" sz="2100" b="1" dirty="0" err="1"/>
              <a:t>executeUpdate</a:t>
            </a:r>
            <a:r>
              <a:rPr lang="en-IN" sz="2100" b="1" dirty="0"/>
              <a:t>() handles INSERT/UPDATE/DELETE.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B1560-F593-F0D8-D183-77D6DBBA8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78423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6418A-21BE-720E-431E-0D3AB3D6A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9956" y="171450"/>
            <a:ext cx="43717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/>
            </a:pPr>
            <a:r>
              <a:rPr sz="2800" dirty="0"/>
              <a:t>Database Application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045041"/>
            <a:ext cx="8301990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8625" indent="-428625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Front end: user interface/application that accepts input and displays results.</a:t>
            </a:r>
          </a:p>
          <a:p>
            <a:pPr marL="428625" indent="-428625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Database server: stores tables, constraints, views, procedures and data.</a:t>
            </a:r>
          </a:p>
          <a:p>
            <a:pPr marL="428625" indent="-428625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Connectivity/API layer: provides the interface between the application and database.</a:t>
            </a:r>
          </a:p>
          <a:p>
            <a:pPr marL="428625" indent="-428625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ODBC: language-independent database connectivity API based on drivers.</a:t>
            </a:r>
          </a:p>
          <a:p>
            <a:pPr marL="428625" indent="-428625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JDBC: Java API for connecting Java applications to relational databases.</a:t>
            </a:r>
          </a:p>
          <a:p>
            <a:pPr marL="428625" indent="-428625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Typical flow: User → Front End → Connectivity API → Driver → Database Server → Result → Front End.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BC286-9416-23D0-6B75-30D5223F0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78423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AE897-79B0-1743-2C4C-7E6D50A4D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81697" y="57150"/>
            <a:ext cx="491833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/>
            </a:pPr>
            <a:r>
              <a:rPr sz="2800" dirty="0"/>
              <a:t>Why Front-End Database Connectivity?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241" y="952440"/>
            <a:ext cx="204895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dirty="0"/>
              <a:t>Need for connectivity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8941" y="822960"/>
            <a:ext cx="188865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Typical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5770" y="1457057"/>
            <a:ext cx="4278630" cy="1800493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dirty="0"/>
              <a:t>Applications need persistent data stored in a DBMS.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dirty="0"/>
              <a:t>Users should not directly issue database commands.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dirty="0"/>
              <a:t>Front ends can validate input and present user-friendly output.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dirty="0"/>
              <a:t>Applications can perform CRUD operations through controlled SQL.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03169"/>
            <a:ext cx="3200400" cy="1954381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dirty="0"/>
              <a:t>Student management systems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dirty="0"/>
              <a:t>Hospital and patient systems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dirty="0"/>
              <a:t>Banking applications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dirty="0"/>
              <a:t>Library management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dirty="0"/>
              <a:t>Inventory and e-commerce systems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dirty="0"/>
              <a:t>Payroll and HR applications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763D60-748F-1D39-F9DB-D93395655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784230"/>
            <a:ext cx="2246489" cy="225920"/>
          </a:xfrm>
        </p:spPr>
        <p:txBody>
          <a:bodyPr/>
          <a:lstStyle/>
          <a:p>
            <a:r>
              <a:rPr lang="fr-FR"/>
              <a:t>Dr. Rajesh M, SCOPE, VIT Chennai.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5C8E75-A8CD-59A4-933A-71155D3C3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45472" y="171450"/>
            <a:ext cx="22990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800" dirty="0"/>
              <a:t>ODBC –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350" y="1045785"/>
            <a:ext cx="809244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ODBC stands for Open Database Connectivity.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ODBC provides a standard interface for applications to access different database management systems.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An application uses ODBC calls rather than database-vendor-specific programming interfaces.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The ODBC driver translates ODBC calls into database-specific operations.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ODBC can be used by applications written in different programming languages when an appropriate ODBC driver is available.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A4147-FF6D-921D-80B1-770E0E1CA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60430"/>
            <a:ext cx="2246489" cy="225920"/>
          </a:xfrm>
        </p:spPr>
        <p:txBody>
          <a:bodyPr/>
          <a:lstStyle/>
          <a:p>
            <a:r>
              <a:rPr lang="fr-FR"/>
              <a:t>Dr. Rajesh M, SCOPE, VIT Chennai.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3B8F5-66EA-C6F8-FA8D-661CB516D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64807" y="133350"/>
            <a:ext cx="217399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lang="en-IN" sz="2400" dirty="0"/>
              <a:t>ODB</a:t>
            </a:r>
            <a:r>
              <a:rPr sz="2400" dirty="0"/>
              <a:t>C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29781"/>
            <a:ext cx="80924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Application: front-end program that requests database services.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ODBC Driver Manager: manages ODBC drivers and routes requests.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ODBC Driver: database-specific software that implements the ODBC interface.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Data Source / DSN: identifies connection information such as server, database/service and authentication details.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Database Server: executes SQL and returns results.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57800" y="2219874"/>
            <a:ext cx="2824318" cy="2714076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3444" tIns="82296" rIns="123444" rtlCol="0" anchor="ctr"/>
          <a:lstStyle/>
          <a:p>
            <a:pPr algn="ctr">
              <a:defRPr sz="1200">
                <a:latin typeface="Consolas"/>
              </a:defRPr>
            </a:pPr>
            <a:r>
              <a:rPr sz="1200" b="1" dirty="0">
                <a:solidFill>
                  <a:schemeClr val="tx1"/>
                </a:solidFill>
                <a:latin typeface="+mj-lt"/>
              </a:rPr>
              <a:t>Application</a:t>
            </a:r>
            <a:br>
              <a:rPr sz="1200" b="1" dirty="0">
                <a:solidFill>
                  <a:schemeClr val="tx1"/>
                </a:solidFill>
                <a:latin typeface="+mj-lt"/>
              </a:rPr>
            </a:br>
            <a:r>
              <a:rPr sz="1200" b="1" dirty="0">
                <a:solidFill>
                  <a:schemeClr val="tx1"/>
                </a:solidFill>
                <a:latin typeface="+mj-lt"/>
              </a:rPr>
              <a:t>     ↓</a:t>
            </a:r>
            <a:br>
              <a:rPr sz="1200" b="1" dirty="0">
                <a:solidFill>
                  <a:schemeClr val="tx1"/>
                </a:solidFill>
                <a:latin typeface="+mj-lt"/>
              </a:rPr>
            </a:br>
            <a:r>
              <a:rPr sz="1200" b="1" dirty="0">
                <a:solidFill>
                  <a:schemeClr val="tx1"/>
                </a:solidFill>
                <a:latin typeface="+mj-lt"/>
              </a:rPr>
              <a:t>ODBC API Calls</a:t>
            </a:r>
            <a:br>
              <a:rPr sz="1200" b="1" dirty="0">
                <a:solidFill>
                  <a:schemeClr val="tx1"/>
                </a:solidFill>
                <a:latin typeface="+mj-lt"/>
              </a:rPr>
            </a:br>
            <a:r>
              <a:rPr sz="1200" b="1" dirty="0">
                <a:solidFill>
                  <a:schemeClr val="tx1"/>
                </a:solidFill>
                <a:latin typeface="+mj-lt"/>
              </a:rPr>
              <a:t>     ↓</a:t>
            </a:r>
            <a:br>
              <a:rPr sz="1200" b="1" dirty="0">
                <a:solidFill>
                  <a:schemeClr val="tx1"/>
                </a:solidFill>
                <a:latin typeface="+mj-lt"/>
              </a:rPr>
            </a:br>
            <a:r>
              <a:rPr sz="1200" b="1" dirty="0">
                <a:solidFill>
                  <a:schemeClr val="tx1"/>
                </a:solidFill>
                <a:latin typeface="+mj-lt"/>
              </a:rPr>
              <a:t>ODBC Driver Manager</a:t>
            </a:r>
            <a:br>
              <a:rPr sz="1200" b="1" dirty="0">
                <a:solidFill>
                  <a:schemeClr val="tx1"/>
                </a:solidFill>
                <a:latin typeface="+mj-lt"/>
              </a:rPr>
            </a:br>
            <a:r>
              <a:rPr sz="1200" b="1" dirty="0">
                <a:solidFill>
                  <a:schemeClr val="tx1"/>
                </a:solidFill>
                <a:latin typeface="+mj-lt"/>
              </a:rPr>
              <a:t>     ↓</a:t>
            </a:r>
            <a:br>
              <a:rPr sz="1200" b="1" dirty="0">
                <a:solidFill>
                  <a:schemeClr val="tx1"/>
                </a:solidFill>
                <a:latin typeface="+mj-lt"/>
              </a:rPr>
            </a:br>
            <a:r>
              <a:rPr sz="1200" b="1" dirty="0">
                <a:solidFill>
                  <a:schemeClr val="tx1"/>
                </a:solidFill>
                <a:latin typeface="+mj-lt"/>
              </a:rPr>
              <a:t>Database-specific ODBC Driver</a:t>
            </a:r>
            <a:br>
              <a:rPr sz="1200" b="1" dirty="0">
                <a:solidFill>
                  <a:schemeClr val="tx1"/>
                </a:solidFill>
                <a:latin typeface="+mj-lt"/>
              </a:rPr>
            </a:br>
            <a:r>
              <a:rPr sz="1200" b="1" dirty="0">
                <a:solidFill>
                  <a:schemeClr val="tx1"/>
                </a:solidFill>
                <a:latin typeface="+mj-lt"/>
              </a:rPr>
              <a:t>     ↓</a:t>
            </a:r>
            <a:br>
              <a:rPr sz="1200" b="1" dirty="0">
                <a:solidFill>
                  <a:schemeClr val="tx1"/>
                </a:solidFill>
                <a:latin typeface="+mj-lt"/>
              </a:rPr>
            </a:br>
            <a:r>
              <a:rPr sz="1200" b="1" dirty="0">
                <a:solidFill>
                  <a:schemeClr val="tx1"/>
                </a:solidFill>
                <a:latin typeface="+mj-lt"/>
              </a:rPr>
              <a:t>Database Server</a:t>
            </a:r>
            <a:br>
              <a:rPr sz="1200" b="1" dirty="0">
                <a:solidFill>
                  <a:schemeClr val="tx1"/>
                </a:solidFill>
                <a:latin typeface="+mj-lt"/>
              </a:rPr>
            </a:br>
            <a:r>
              <a:rPr sz="1200" b="1" dirty="0">
                <a:solidFill>
                  <a:schemeClr val="tx1"/>
                </a:solidFill>
                <a:latin typeface="+mj-lt"/>
              </a:rPr>
              <a:t>     ↓</a:t>
            </a:r>
            <a:br>
              <a:rPr sz="1200" b="1" dirty="0">
                <a:solidFill>
                  <a:schemeClr val="tx1"/>
                </a:solidFill>
                <a:latin typeface="+mj-lt"/>
              </a:rPr>
            </a:br>
            <a:r>
              <a:rPr sz="1200" b="1" dirty="0">
                <a:solidFill>
                  <a:schemeClr val="tx1"/>
                </a:solidFill>
                <a:latin typeface="+mj-lt"/>
              </a:rPr>
              <a:t>Result Set / Status / Error</a:t>
            </a:r>
            <a:br>
              <a:rPr sz="1200" b="1" dirty="0">
                <a:solidFill>
                  <a:schemeClr val="tx1"/>
                </a:solidFill>
                <a:latin typeface="+mj-lt"/>
              </a:rPr>
            </a:br>
            <a:r>
              <a:rPr sz="1200" b="1" dirty="0">
                <a:solidFill>
                  <a:schemeClr val="tx1"/>
                </a:solidFill>
                <a:latin typeface="+mj-lt"/>
              </a:rPr>
              <a:t>     ↑</a:t>
            </a:r>
            <a:br>
              <a:rPr sz="1200" b="1" dirty="0">
                <a:solidFill>
                  <a:schemeClr val="tx1"/>
                </a:solidFill>
                <a:latin typeface="+mj-lt"/>
              </a:rPr>
            </a:br>
            <a:r>
              <a:rPr sz="1200" b="1" dirty="0">
                <a:solidFill>
                  <a:schemeClr val="tx1"/>
                </a:solidFill>
                <a:latin typeface="+mj-lt"/>
              </a:rPr>
              <a:t>Application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B2885-3884-D045-DD06-38FC95F85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3311" y="493395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3B922-CCC3-664B-E4D3-C22F0285C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96011" y="171450"/>
            <a:ext cx="2385589" cy="403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025" dirty="0"/>
              <a:t>ODBC – Important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39275" y="1119485"/>
            <a:ext cx="85632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sz="2400"/>
              <a:t>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53808" y="1028640"/>
            <a:ext cx="153279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dirty="0"/>
              <a:t>DSN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761113"/>
            <a:ext cx="4251960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dirty="0"/>
              <a:t>ODBC API – functions used by an application.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dirty="0"/>
              <a:t>Driver Manager – selects/manages drivers.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dirty="0"/>
              <a:t>ODBC Driver – communicates with a specific DBMS.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dirty="0"/>
              <a:t>DSN – named data source configuration.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dirty="0"/>
              <a:t>Connection – active session between application and DB.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7730" y="1609457"/>
            <a:ext cx="3909060" cy="18004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dirty="0"/>
              <a:t>User DSN – available to a particular user.</a:t>
            </a: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dirty="0"/>
              <a:t>System DSN – available to users/services on the system.</a:t>
            </a: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dirty="0"/>
              <a:t>File DSN – connection information stored in a file.</a:t>
            </a: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dirty="0"/>
              <a:t>Exact configuration options depend on the operating system and installed driver.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B7E776-CC26-E269-73E3-F4C853B39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0" y="486043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A0DEEF-D884-4835-5BB0-FFD0CAFC6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56032" y="171450"/>
            <a:ext cx="303801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400" dirty="0"/>
              <a:t>ODBC Connection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350" y="857250"/>
            <a:ext cx="8092440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/>
            </a:pPr>
            <a:r>
              <a:rPr sz="2000" dirty="0"/>
              <a:t>1. Install the DBMS ODBC driver.</a:t>
            </a:r>
          </a:p>
          <a:p>
            <a:pPr>
              <a:spcAft>
                <a:spcPts val="600"/>
              </a:spcAft>
              <a:defRPr sz="1800" b="0"/>
            </a:pPr>
            <a:r>
              <a:rPr sz="2000" dirty="0"/>
              <a:t>2. Create/configure the DSN or connection configuration.</a:t>
            </a:r>
          </a:p>
          <a:p>
            <a:pPr>
              <a:spcAft>
                <a:spcPts val="600"/>
              </a:spcAft>
              <a:defRPr sz="1800" b="0"/>
            </a:pPr>
            <a:r>
              <a:rPr sz="2000" dirty="0"/>
              <a:t>3. Start the front-end application.</a:t>
            </a:r>
          </a:p>
          <a:p>
            <a:pPr>
              <a:spcAft>
                <a:spcPts val="600"/>
              </a:spcAft>
              <a:defRPr sz="1800" b="0"/>
            </a:pPr>
            <a:r>
              <a:rPr sz="2000" dirty="0"/>
              <a:t>4. Allocate an ODBC environment/connection handle as required by the API.</a:t>
            </a:r>
          </a:p>
          <a:p>
            <a:pPr>
              <a:spcAft>
                <a:spcPts val="600"/>
              </a:spcAft>
              <a:defRPr sz="1800" b="0"/>
            </a:pPr>
            <a:r>
              <a:rPr sz="2000" dirty="0"/>
              <a:t>5. Connect to the data source.</a:t>
            </a:r>
          </a:p>
          <a:p>
            <a:pPr>
              <a:spcAft>
                <a:spcPts val="600"/>
              </a:spcAft>
              <a:defRPr sz="1800" b="0"/>
            </a:pPr>
            <a:r>
              <a:rPr sz="2000" dirty="0"/>
              <a:t>6. Prepare/execute SQL.</a:t>
            </a:r>
          </a:p>
          <a:p>
            <a:pPr>
              <a:spcAft>
                <a:spcPts val="600"/>
              </a:spcAft>
              <a:defRPr sz="1800" b="0"/>
            </a:pPr>
            <a:r>
              <a:rPr sz="2000" dirty="0"/>
              <a:t>7. Fetch result rows for SELECT operations.</a:t>
            </a:r>
          </a:p>
          <a:p>
            <a:pPr>
              <a:spcAft>
                <a:spcPts val="600"/>
              </a:spcAft>
              <a:defRPr sz="1800" b="0"/>
            </a:pPr>
            <a:r>
              <a:rPr sz="2000" dirty="0"/>
              <a:t>8. Commit/rollback DML when transaction control is required.</a:t>
            </a:r>
          </a:p>
          <a:p>
            <a:pPr>
              <a:spcAft>
                <a:spcPts val="600"/>
              </a:spcAft>
              <a:defRPr sz="1800" b="0"/>
            </a:pPr>
            <a:r>
              <a:rPr sz="2000" dirty="0"/>
              <a:t>9. Close statements/result sets and disconnect.</a:t>
            </a:r>
          </a:p>
          <a:p>
            <a:pPr>
              <a:spcAft>
                <a:spcPts val="600"/>
              </a:spcAft>
              <a:defRPr sz="1800" b="0"/>
            </a:pPr>
            <a:r>
              <a:rPr sz="2000" dirty="0"/>
              <a:t>10. Release ODBC resources.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B2AC7-0A0C-E370-A2DC-A444B239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781550"/>
            <a:ext cx="2246489" cy="225920"/>
          </a:xfrm>
        </p:spPr>
        <p:txBody>
          <a:bodyPr/>
          <a:lstStyle/>
          <a:p>
            <a:r>
              <a:rPr lang="fr-FR"/>
              <a:t>Dr. Rajesh M, SCOPE, VIT Chennai.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47C40-8B16-86FC-076D-0D713242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82378" y="171450"/>
            <a:ext cx="347082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400" dirty="0"/>
              <a:t>ODBC – Generic Retrieval Logic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925830"/>
            <a:ext cx="4899660" cy="377190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3444" tIns="82296" rIns="123444" rtlCol="0" anchor="ctr"/>
          <a:lstStyle/>
          <a:p>
            <a:pPr algn="ctr">
              <a:defRPr sz="1800">
                <a:latin typeface="Consolas"/>
              </a:defRPr>
            </a:pPr>
            <a:r>
              <a:rPr sz="1350" b="1" dirty="0">
                <a:solidFill>
                  <a:schemeClr val="tx1"/>
                </a:solidFill>
                <a:latin typeface="+mj-lt"/>
              </a:rPr>
              <a:t>Connect to DSN</a:t>
            </a:r>
            <a:br>
              <a:rPr sz="1350" b="1" dirty="0">
                <a:solidFill>
                  <a:schemeClr val="tx1"/>
                </a:solidFill>
                <a:latin typeface="+mj-lt"/>
              </a:rPr>
            </a:br>
            <a:r>
              <a:rPr sz="1350" b="1" dirty="0">
                <a:solidFill>
                  <a:schemeClr val="tx1"/>
                </a:solidFill>
                <a:latin typeface="+mj-lt"/>
              </a:rPr>
              <a:t>    ↓</a:t>
            </a:r>
            <a:br>
              <a:rPr sz="1350" b="1" dirty="0">
                <a:solidFill>
                  <a:schemeClr val="tx1"/>
                </a:solidFill>
                <a:latin typeface="+mj-lt"/>
              </a:rPr>
            </a:br>
            <a:r>
              <a:rPr sz="1350" b="1" dirty="0">
                <a:solidFill>
                  <a:schemeClr val="tx1"/>
                </a:solidFill>
                <a:latin typeface="+mj-lt"/>
              </a:rPr>
              <a:t>Execute: SELECT ...</a:t>
            </a:r>
            <a:br>
              <a:rPr sz="1350" b="1" dirty="0">
                <a:solidFill>
                  <a:schemeClr val="tx1"/>
                </a:solidFill>
                <a:latin typeface="+mj-lt"/>
              </a:rPr>
            </a:br>
            <a:r>
              <a:rPr sz="1350" b="1" dirty="0">
                <a:solidFill>
                  <a:schemeClr val="tx1"/>
                </a:solidFill>
                <a:latin typeface="+mj-lt"/>
              </a:rPr>
              <a:t>    ↓</a:t>
            </a:r>
            <a:br>
              <a:rPr sz="1350" b="1" dirty="0">
                <a:solidFill>
                  <a:schemeClr val="tx1"/>
                </a:solidFill>
                <a:latin typeface="+mj-lt"/>
              </a:rPr>
            </a:br>
            <a:r>
              <a:rPr sz="1350" b="1" dirty="0">
                <a:solidFill>
                  <a:schemeClr val="tx1"/>
                </a:solidFill>
                <a:latin typeface="+mj-lt"/>
              </a:rPr>
              <a:t>Check execution status</a:t>
            </a:r>
            <a:br>
              <a:rPr sz="1350" b="1" dirty="0">
                <a:solidFill>
                  <a:schemeClr val="tx1"/>
                </a:solidFill>
                <a:latin typeface="+mj-lt"/>
              </a:rPr>
            </a:br>
            <a:r>
              <a:rPr sz="1350" b="1" dirty="0">
                <a:solidFill>
                  <a:schemeClr val="tx1"/>
                </a:solidFill>
                <a:latin typeface="+mj-lt"/>
              </a:rPr>
              <a:t>    ↓</a:t>
            </a:r>
            <a:br>
              <a:rPr sz="1350" b="1" dirty="0">
                <a:solidFill>
                  <a:schemeClr val="tx1"/>
                </a:solidFill>
                <a:latin typeface="+mj-lt"/>
              </a:rPr>
            </a:br>
            <a:r>
              <a:rPr sz="1350" b="1" dirty="0">
                <a:solidFill>
                  <a:schemeClr val="tx1"/>
                </a:solidFill>
                <a:latin typeface="+mj-lt"/>
              </a:rPr>
              <a:t>Fetch first row</a:t>
            </a:r>
            <a:br>
              <a:rPr sz="1350" b="1" dirty="0">
                <a:solidFill>
                  <a:schemeClr val="tx1"/>
                </a:solidFill>
                <a:latin typeface="+mj-lt"/>
              </a:rPr>
            </a:br>
            <a:r>
              <a:rPr sz="1350" b="1" dirty="0">
                <a:solidFill>
                  <a:schemeClr val="tx1"/>
                </a:solidFill>
                <a:latin typeface="+mj-lt"/>
              </a:rPr>
              <a:t>    ↓</a:t>
            </a:r>
            <a:br>
              <a:rPr sz="1350" b="1" dirty="0">
                <a:solidFill>
                  <a:schemeClr val="tx1"/>
                </a:solidFill>
                <a:latin typeface="+mj-lt"/>
              </a:rPr>
            </a:br>
            <a:r>
              <a:rPr sz="1350" b="1" dirty="0">
                <a:solidFill>
                  <a:schemeClr val="tx1"/>
                </a:solidFill>
                <a:latin typeface="+mj-lt"/>
              </a:rPr>
              <a:t>WHILE rows are available</a:t>
            </a:r>
            <a:br>
              <a:rPr sz="1350" b="1" dirty="0">
                <a:solidFill>
                  <a:schemeClr val="tx1"/>
                </a:solidFill>
                <a:latin typeface="+mj-lt"/>
              </a:rPr>
            </a:br>
            <a:r>
              <a:rPr sz="1350" b="1" dirty="0">
                <a:solidFill>
                  <a:schemeClr val="tx1"/>
                </a:solidFill>
                <a:latin typeface="+mj-lt"/>
              </a:rPr>
              <a:t>      Read column values</a:t>
            </a:r>
            <a:br>
              <a:rPr sz="1350" b="1" dirty="0">
                <a:solidFill>
                  <a:schemeClr val="tx1"/>
                </a:solidFill>
                <a:latin typeface="+mj-lt"/>
              </a:rPr>
            </a:br>
            <a:r>
              <a:rPr sz="1350" b="1" dirty="0">
                <a:solidFill>
                  <a:schemeClr val="tx1"/>
                </a:solidFill>
                <a:latin typeface="+mj-lt"/>
              </a:rPr>
              <a:t>      Display/process row</a:t>
            </a:r>
            <a:br>
              <a:rPr sz="1350" b="1" dirty="0">
                <a:solidFill>
                  <a:schemeClr val="tx1"/>
                </a:solidFill>
                <a:latin typeface="+mj-lt"/>
              </a:rPr>
            </a:br>
            <a:r>
              <a:rPr sz="1350" b="1" dirty="0">
                <a:solidFill>
                  <a:schemeClr val="tx1"/>
                </a:solidFill>
                <a:latin typeface="+mj-lt"/>
              </a:rPr>
              <a:t>      Fetch next row</a:t>
            </a:r>
            <a:br>
              <a:rPr sz="1350" b="1" dirty="0">
                <a:solidFill>
                  <a:schemeClr val="tx1"/>
                </a:solidFill>
                <a:latin typeface="+mj-lt"/>
              </a:rPr>
            </a:br>
            <a:r>
              <a:rPr sz="1350" b="1" dirty="0">
                <a:solidFill>
                  <a:schemeClr val="tx1"/>
                </a:solidFill>
                <a:latin typeface="+mj-lt"/>
              </a:rPr>
              <a:t>    END WHILE</a:t>
            </a:r>
            <a:br>
              <a:rPr sz="1350" b="1" dirty="0">
                <a:solidFill>
                  <a:schemeClr val="tx1"/>
                </a:solidFill>
                <a:latin typeface="+mj-lt"/>
              </a:rPr>
            </a:br>
            <a:r>
              <a:rPr sz="1350" b="1" dirty="0">
                <a:solidFill>
                  <a:schemeClr val="tx1"/>
                </a:solidFill>
                <a:latin typeface="+mj-lt"/>
              </a:rPr>
              <a:t>    ↓</a:t>
            </a:r>
            <a:br>
              <a:rPr sz="1350" b="1" dirty="0">
                <a:solidFill>
                  <a:schemeClr val="tx1"/>
                </a:solidFill>
                <a:latin typeface="+mj-lt"/>
              </a:rPr>
            </a:br>
            <a:r>
              <a:rPr sz="1350" b="1" dirty="0">
                <a:solidFill>
                  <a:schemeClr val="tx1"/>
                </a:solidFill>
                <a:latin typeface="+mj-lt"/>
              </a:rPr>
              <a:t>Close statement</a:t>
            </a:r>
            <a:br>
              <a:rPr sz="1350" b="1" dirty="0">
                <a:solidFill>
                  <a:schemeClr val="tx1"/>
                </a:solidFill>
                <a:latin typeface="+mj-lt"/>
              </a:rPr>
            </a:br>
            <a:r>
              <a:rPr sz="1350" b="1" dirty="0">
                <a:solidFill>
                  <a:schemeClr val="tx1"/>
                </a:solidFill>
                <a:latin typeface="+mj-lt"/>
              </a:rPr>
              <a:t>Disconnect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4F900-13C5-076D-022B-27207126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5775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F6462-1648-BF39-7AB1-1862A6649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53580" y="338993"/>
            <a:ext cx="294503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400" dirty="0"/>
              <a:t>ODBC – Generic DML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121985"/>
            <a:ext cx="816864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b="1" dirty="0"/>
              <a:t>INSERT: </a:t>
            </a:r>
            <a:r>
              <a:rPr sz="2400" dirty="0"/>
              <a:t>send a parameterized INSERT statement and supply input values.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b="1" dirty="0"/>
              <a:t>UPDATE: </a:t>
            </a:r>
            <a:r>
              <a:rPr sz="2400" dirty="0"/>
              <a:t>identify rows using a WHERE condition and inspect affected-row count where supported.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b="1" dirty="0"/>
              <a:t>DELETE: </a:t>
            </a:r>
            <a:r>
              <a:rPr sz="2400" dirty="0"/>
              <a:t>use a precise WHERE condition and verify the intended rows are affected.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b="1" dirty="0"/>
              <a:t>Transactions: </a:t>
            </a:r>
            <a:r>
              <a:rPr sz="2400" dirty="0"/>
              <a:t>group related DML operations and COMMIT when correct; ROLLBACK when changes must be undone.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Use parameter binding instead of concatenating untrusted input into SQL.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4FDAF-8978-E962-074A-A7FAB630F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60430"/>
            <a:ext cx="2246489" cy="225920"/>
          </a:xfrm>
        </p:spPr>
        <p:txBody>
          <a:bodyPr/>
          <a:lstStyle/>
          <a:p>
            <a:r>
              <a:rPr lang="fr-FR"/>
              <a:t>Dr. Rajesh M, SCOPE, VIT Chennai.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66522-F6CF-4669-657D-317DA4E5E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67477" y="205085"/>
            <a:ext cx="320472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400" dirty="0"/>
              <a:t>ODBC – Pseudocode Example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76400" y="971550"/>
            <a:ext cx="6118860" cy="3476564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3444" tIns="82296" rIns="123444" rtlCol="0" anchor="ctr"/>
          <a:lstStyle/>
          <a:p>
            <a:pPr>
              <a:defRPr sz="1500">
                <a:latin typeface="Consolas"/>
              </a:defRPr>
            </a:pPr>
            <a:r>
              <a:rPr sz="1600" b="1" dirty="0">
                <a:solidFill>
                  <a:schemeClr val="tx1"/>
                </a:solidFill>
                <a:latin typeface="+mj-lt"/>
              </a:rPr>
              <a:t>connection = connect("MY_DSN", user, password)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statement = prepare(connection,</a:t>
            </a:r>
            <a:r>
              <a:rPr lang="en-IN" sz="1600" b="1" dirty="0">
                <a:solidFill>
                  <a:schemeClr val="tx1"/>
                </a:solidFill>
                <a:latin typeface="+mj-lt"/>
              </a:rPr>
              <a:t> 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"SELECT SID, SNAME, CGPA FROM STUDENT")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execute(statement)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while fetch(statement):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print(SID, SNAME, CGPA)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close(statement)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disconnect(connection)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F9494-8467-E292-CBD8-1BBA0C402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60430"/>
            <a:ext cx="2246489" cy="225920"/>
          </a:xfrm>
        </p:spPr>
        <p:txBody>
          <a:bodyPr/>
          <a:lstStyle/>
          <a:p>
            <a:r>
              <a:rPr lang="fr-FR"/>
              <a:t>Dr. Rajesh M, SCOPE, VIT Chennai.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BF6AA-CD66-2D8F-17ED-C0682D2B1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05200" y="171450"/>
            <a:ext cx="277031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400" dirty="0"/>
              <a:t>ODBC – DML Pseudocode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52593" y="895350"/>
            <a:ext cx="6119807" cy="377190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3444" tIns="82296" rIns="123444" rtlCol="0" anchor="ctr"/>
          <a:lstStyle/>
          <a:p>
            <a:pPr>
              <a:defRPr sz="1500">
                <a:latin typeface="Consolas"/>
              </a:defRPr>
            </a:pPr>
            <a:r>
              <a:rPr sz="1600" b="1" dirty="0">
                <a:solidFill>
                  <a:schemeClr val="tx1"/>
                </a:solidFill>
                <a:latin typeface="+mj-lt"/>
              </a:rPr>
              <a:t>connection = connect("MY_DSN", user, password)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 err="1">
                <a:solidFill>
                  <a:schemeClr val="tx1"/>
                </a:solidFill>
                <a:latin typeface="+mj-lt"/>
              </a:rPr>
              <a:t>stmt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 = prepare(connection,</a:t>
            </a:r>
            <a:r>
              <a:rPr lang="en-IN" sz="1600" b="1" dirty="0">
                <a:solidFill>
                  <a:schemeClr val="tx1"/>
                </a:solidFill>
                <a:latin typeface="+mj-lt"/>
              </a:rPr>
              <a:t> 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 "UPDATE STUDENT SET CGPA = ? WHERE SID = ?")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bind(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stmt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, 1,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new_cgpa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)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bind(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stmt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, 2,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student_id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)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execute(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stmt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)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commit(connection)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close(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stmt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)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disconnect(connection)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42FA4-9616-4A03-B1B2-A5037E1F3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936630"/>
            <a:ext cx="2246489" cy="225920"/>
          </a:xfrm>
        </p:spPr>
        <p:txBody>
          <a:bodyPr/>
          <a:lstStyle/>
          <a:p>
            <a:r>
              <a:rPr lang="fr-FR"/>
              <a:t>Dr. Rajesh M, SCOPE, VIT Chennai.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4BD1B-4EFC-3269-F691-2FF3B3E8D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9788" y="357485"/>
            <a:ext cx="38860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400" dirty="0"/>
              <a:t>ODBC – Advantages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2051" y="1333440"/>
            <a:ext cx="118974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dirty="0"/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23910" y="1409640"/>
            <a:ext cx="265329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dirty="0"/>
              <a:t>Limitations /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5770" y="1896636"/>
            <a:ext cx="3909060" cy="20467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dirty="0"/>
              <a:t>Standardized database connectivity interface.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dirty="0"/>
              <a:t>Applications can work with multiple DBMS products through appropriate drivers.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dirty="0"/>
              <a:t>Useful for native applications and languages with ODBC support.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dirty="0"/>
              <a:t>Centralized driver/data-source configuration can simplify deployment.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53940" y="1972836"/>
            <a:ext cx="3909060" cy="20467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dirty="0"/>
              <a:t>Requires an appropriate ODBC driver.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dirty="0"/>
              <a:t>DSN/driver configuration can be platform and environment dependent.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dirty="0"/>
              <a:t>Driver versions and DBMS features may affect portability.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dirty="0"/>
              <a:t>Connection/resource management must be handled carefully.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EC7732-24BE-7F09-117A-D4A5DCEB9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60430"/>
            <a:ext cx="2246489" cy="225920"/>
          </a:xfrm>
        </p:spPr>
        <p:txBody>
          <a:bodyPr/>
          <a:lstStyle/>
          <a:p>
            <a:r>
              <a:rPr lang="fr-FR"/>
              <a:t>Dr. Rajesh M, SCOPE, VIT Chennai.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59E701-FE42-E0DB-DC74-3DEB45BF7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48179" y="171450"/>
            <a:ext cx="198644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400" dirty="0"/>
              <a:t>JDBC –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350" y="1123950"/>
            <a:ext cx="809244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JDBC stands for Java Database Connectivity.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JDBC is the standard Java API for accessing relational and tabular data sources.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Java applications use JDBC interfaces/classes to establish connections, execute SQL and process results.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A JDBC driver implements the communication between JDBC and a particular database.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JDBC supports retrieval, DML, transaction control and metadata operations.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8180D-40AB-8918-E9C7-09BE09F95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5775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8F12-1A4F-0297-F7E2-D1714AFD0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0" y="171450"/>
            <a:ext cx="215956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400" dirty="0"/>
              <a:t>JDBC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925830"/>
            <a:ext cx="6606540" cy="377190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3444" tIns="82296" rIns="123444" rtlCol="0" anchor="ctr"/>
          <a:lstStyle/>
          <a:p>
            <a:pPr algn="ctr">
              <a:defRPr sz="1800">
                <a:latin typeface="Consolas"/>
              </a:defRPr>
            </a:pPr>
            <a:r>
              <a:rPr sz="1600" b="1" dirty="0">
                <a:solidFill>
                  <a:schemeClr val="tx1"/>
                </a:solidFill>
                <a:latin typeface="+mj-lt"/>
              </a:rPr>
              <a:t>Java Front-End Application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      ↓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   JDBC API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      ↓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JDBC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DriverManager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      ↓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JDBC Driver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      ↓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Database Server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      ↓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 err="1">
                <a:solidFill>
                  <a:schemeClr val="tx1"/>
                </a:solidFill>
                <a:latin typeface="+mj-lt"/>
              </a:rPr>
              <a:t>ResultSet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 / Update Count /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SQLException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      ↑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Java Application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98DC3-26B0-586D-D254-253F55A16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6043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830AE-BE21-40F4-3057-931BC1B57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73697" y="171450"/>
            <a:ext cx="216437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400" dirty="0"/>
              <a:t>JDBC Driver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350" y="666750"/>
            <a:ext cx="809244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b="1" dirty="0"/>
              <a:t>Type 1 </a:t>
            </a:r>
            <a:r>
              <a:rPr sz="2400" dirty="0"/>
              <a:t>– JDBC-ODBC Bridge: historical architecture; obsolete in modern Java and removed from the JDK in Java 8.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b="1" dirty="0"/>
              <a:t>Type 2 </a:t>
            </a:r>
            <a:r>
              <a:rPr sz="2400" dirty="0"/>
              <a:t>– Native-API driver: partly Java and partly native database-specific code.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b="1" dirty="0"/>
              <a:t>Type 3 </a:t>
            </a:r>
            <a:r>
              <a:rPr sz="2400" dirty="0"/>
              <a:t>– Network protocol / middleware driver: communicates through a middleware server.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b="1" dirty="0"/>
              <a:t>Type 4 </a:t>
            </a:r>
            <a:r>
              <a:rPr sz="2400" dirty="0"/>
              <a:t>– Thin / pure Java driver: communicates directly with the database protocol and is commonly used in modern applications.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For an Oracle database, the Oracle JDBC Thin driver is a common Type 4 approach.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61647-5AEE-A09B-7019-F52619E51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78423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5DA77-4A51-FA80-2084-F5ADA5BB3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49729" y="171450"/>
            <a:ext cx="353975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400" dirty="0"/>
              <a:t>JDBC Core Interfaces /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1656" y="666750"/>
            <a:ext cx="129394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Core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20512" y="2876550"/>
            <a:ext cx="176522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dirty="0"/>
              <a:t>Result / metadata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170" y="1123950"/>
            <a:ext cx="5040630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sz="1600" b="1" dirty="0" err="1"/>
              <a:t>DriverManager</a:t>
            </a:r>
            <a:r>
              <a:rPr sz="1600" b="1" dirty="0"/>
              <a:t> </a:t>
            </a:r>
            <a:r>
              <a:rPr sz="1600" dirty="0"/>
              <a:t>– obtains database connections.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sz="1600" b="1" dirty="0"/>
              <a:t>Connection</a:t>
            </a:r>
            <a:r>
              <a:rPr sz="1600" dirty="0"/>
              <a:t> – represents an active database session.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sz="1600" b="1" dirty="0"/>
              <a:t>Statement</a:t>
            </a:r>
            <a:r>
              <a:rPr sz="1600" dirty="0"/>
              <a:t> – executes static SQL.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sz="1600" b="1" dirty="0" err="1"/>
              <a:t>PreparedStatement</a:t>
            </a:r>
            <a:r>
              <a:rPr sz="1600" dirty="0"/>
              <a:t> – executes parameterized/precompiled SQL.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sz="1600" b="1" dirty="0" err="1"/>
              <a:t>CallableStatement</a:t>
            </a:r>
            <a:r>
              <a:rPr sz="1600" b="1" dirty="0"/>
              <a:t> </a:t>
            </a:r>
            <a:r>
              <a:rPr sz="1600" dirty="0"/>
              <a:t>– invokes stored procedures/functions.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7730" y="3414921"/>
            <a:ext cx="4293870" cy="11849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sz="1400" dirty="0" err="1"/>
              <a:t>ResultSet</a:t>
            </a:r>
            <a:r>
              <a:rPr sz="1400" dirty="0"/>
              <a:t> – cursor-like result of a SELECT query.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sz="1400" dirty="0" err="1"/>
              <a:t>ResultSetMetaData</a:t>
            </a:r>
            <a:r>
              <a:rPr sz="1400" dirty="0"/>
              <a:t> – information about result columns.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sz="1400" dirty="0" err="1"/>
              <a:t>DatabaseMetaData</a:t>
            </a:r>
            <a:r>
              <a:rPr sz="1400" dirty="0"/>
              <a:t> – information about the database and driver.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sz="1400" dirty="0" err="1"/>
              <a:t>SQLException</a:t>
            </a:r>
            <a:r>
              <a:rPr sz="1400" dirty="0"/>
              <a:t> – database/JDBC error information.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60C0E8-C800-C242-6AE1-AFAB8655B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784230"/>
            <a:ext cx="2246489" cy="225920"/>
          </a:xfrm>
        </p:spPr>
        <p:txBody>
          <a:bodyPr/>
          <a:lstStyle/>
          <a:p>
            <a:r>
              <a:rPr lang="fr-FR"/>
              <a:t>Dr. Rajesh M, SCOPE, VIT Chennai.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EB19EC-122C-3151-8B25-C55551F81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9000" y="133350"/>
            <a:ext cx="290816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400" dirty="0"/>
              <a:t>JDBC Programming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666750"/>
            <a:ext cx="809244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/>
            </a:pPr>
            <a:r>
              <a:rPr sz="2400" dirty="0"/>
              <a:t>1. Add/import JDBC classes.</a:t>
            </a:r>
          </a:p>
          <a:p>
            <a:pPr>
              <a:spcAft>
                <a:spcPts val="600"/>
              </a:spcAft>
              <a:defRPr sz="1800" b="0"/>
            </a:pPr>
            <a:r>
              <a:rPr sz="2400" dirty="0"/>
              <a:t>2. Ensure the correct JDBC driver is available to the application.</a:t>
            </a:r>
          </a:p>
          <a:p>
            <a:pPr>
              <a:spcAft>
                <a:spcPts val="600"/>
              </a:spcAft>
              <a:defRPr sz="1800" b="0"/>
            </a:pPr>
            <a:r>
              <a:rPr sz="2400" dirty="0"/>
              <a:t>3. Obtain a Connection.</a:t>
            </a:r>
          </a:p>
          <a:p>
            <a:pPr>
              <a:spcAft>
                <a:spcPts val="600"/>
              </a:spcAft>
              <a:defRPr sz="1800" b="0"/>
            </a:pPr>
            <a:r>
              <a:rPr sz="2400" dirty="0"/>
              <a:t>4. Create Statement or </a:t>
            </a:r>
            <a:r>
              <a:rPr sz="2400" dirty="0" err="1"/>
              <a:t>PreparedStatement</a:t>
            </a:r>
            <a:r>
              <a:rPr sz="2400" dirty="0"/>
              <a:t>.</a:t>
            </a:r>
          </a:p>
          <a:p>
            <a:pPr>
              <a:spcAft>
                <a:spcPts val="600"/>
              </a:spcAft>
              <a:defRPr sz="1800" b="0"/>
            </a:pPr>
            <a:r>
              <a:rPr sz="2400" dirty="0"/>
              <a:t>5. Execute SQL.</a:t>
            </a:r>
          </a:p>
          <a:p>
            <a:pPr>
              <a:spcAft>
                <a:spcPts val="600"/>
              </a:spcAft>
              <a:defRPr sz="1800" b="0"/>
            </a:pPr>
            <a:r>
              <a:rPr sz="2400" dirty="0"/>
              <a:t>6. For SELECT, process </a:t>
            </a:r>
            <a:r>
              <a:rPr sz="2400" dirty="0" err="1"/>
              <a:t>ResultSet</a:t>
            </a:r>
            <a:r>
              <a:rPr sz="2400" dirty="0"/>
              <a:t> using next().</a:t>
            </a:r>
          </a:p>
          <a:p>
            <a:pPr>
              <a:spcAft>
                <a:spcPts val="600"/>
              </a:spcAft>
              <a:defRPr sz="1800" b="0"/>
            </a:pPr>
            <a:r>
              <a:rPr sz="2400" dirty="0"/>
              <a:t>7. For INSERT/UPDATE/DELETE, inspect </a:t>
            </a:r>
            <a:r>
              <a:rPr sz="2400" dirty="0" err="1"/>
              <a:t>executeUpdate</a:t>
            </a:r>
            <a:r>
              <a:rPr sz="2400" dirty="0"/>
              <a:t>() result.</a:t>
            </a:r>
          </a:p>
          <a:p>
            <a:pPr>
              <a:spcAft>
                <a:spcPts val="600"/>
              </a:spcAft>
              <a:defRPr sz="1800" b="0"/>
            </a:pPr>
            <a:r>
              <a:rPr sz="2400" dirty="0"/>
              <a:t>8. Commit or rollback the transaction when required.</a:t>
            </a:r>
          </a:p>
          <a:p>
            <a:pPr>
              <a:spcAft>
                <a:spcPts val="600"/>
              </a:spcAft>
              <a:defRPr sz="1800" b="0"/>
            </a:pPr>
            <a:r>
              <a:rPr sz="2400" dirty="0"/>
              <a:t>9. Close </a:t>
            </a:r>
            <a:r>
              <a:rPr sz="2400" dirty="0" err="1"/>
              <a:t>ResultSet</a:t>
            </a:r>
            <a:r>
              <a:rPr sz="2400" dirty="0"/>
              <a:t>, Statement and Connection resources.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D15ED-9B4F-9C5F-7C2D-128036F2B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6043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6C7A9-A10F-C9BE-D28A-BD63D558C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67622" y="-19050"/>
            <a:ext cx="310052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400" dirty="0"/>
              <a:t>JDBC – Connection Example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89660" y="523280"/>
            <a:ext cx="5615940" cy="448687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3444" tIns="82296" rIns="123444" rtlCol="0" anchor="ctr"/>
          <a:lstStyle/>
          <a:p>
            <a:pPr>
              <a:defRPr sz="1100">
                <a:latin typeface="Consolas"/>
              </a:defRPr>
            </a:pPr>
            <a:r>
              <a:rPr sz="1600" b="1" dirty="0">
                <a:solidFill>
                  <a:schemeClr val="tx1"/>
                </a:solidFill>
                <a:latin typeface="+mj-lt"/>
              </a:rPr>
              <a:t>import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java.sql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.*;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public class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DBConnect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 {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public static void main(String[]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args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) {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    String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url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 = "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jdbc:oracle:thin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:@localhost:1521/XEPDB1";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    String user = "system";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    String password = "password";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    try (Connection con =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            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DriverManager.getConnection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url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, user, password)) {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       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System.out.println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("Database connected");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    } catch (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SQLException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 e) {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       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e.printStackTrace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();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    }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}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4029C-EED1-42FE-C468-780872424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34200" y="4860430"/>
            <a:ext cx="2246489" cy="225920"/>
          </a:xfrm>
        </p:spPr>
        <p:txBody>
          <a:bodyPr/>
          <a:lstStyle/>
          <a:p>
            <a:r>
              <a:rPr lang="fr-FR"/>
              <a:t>Dr. Rajesh M, SCOPE, VIT Chennai.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C12FF-8B01-E66E-F0B7-4077F8411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19400" y="171450"/>
            <a:ext cx="373371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400" dirty="0"/>
              <a:t>JDBC – Retrieval using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70660" y="925830"/>
            <a:ext cx="5996940" cy="377190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3444" tIns="82296" rIns="123444" rtlCol="0" anchor="ctr"/>
          <a:lstStyle/>
          <a:p>
            <a:pPr>
              <a:defRPr sz="1100">
                <a:latin typeface="Consolas"/>
              </a:defRPr>
            </a:pPr>
            <a:r>
              <a:rPr sz="1600" b="1" dirty="0">
                <a:solidFill>
                  <a:schemeClr val="tx1"/>
                </a:solidFill>
                <a:latin typeface="+mj-lt"/>
              </a:rPr>
              <a:t>String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sql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 =</a:t>
            </a:r>
            <a:r>
              <a:rPr lang="en-IN" sz="1600" b="1" dirty="0">
                <a:solidFill>
                  <a:schemeClr val="tx1"/>
                </a:solidFill>
                <a:latin typeface="+mj-lt"/>
              </a:rPr>
              <a:t> 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 "SELECT SID, SNAME, DEPT, CGPA FROM STUDENT";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try (Statement st =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con.createStatement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();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ResultSet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rs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 =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st.executeQuery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sql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)) {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while (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rs.next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()) {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    int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sid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 =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rs.getInt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("SID");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    String name =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rs.getString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("SNAME");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    String dept =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rs.getString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("DEPT");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    double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cgpa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 =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rs.getDouble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("CGPA");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   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System.out.println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       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sid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 + " " + name + " " + dept + " " +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cgpa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);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}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67D7F-F321-14AD-CA68-3A07A3115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0" y="486043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FC27D-C07E-0289-5070-05F5A2330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07191" y="357485"/>
            <a:ext cx="343395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400" dirty="0" err="1"/>
              <a:t>ResultSet</a:t>
            </a:r>
            <a:r>
              <a:rPr sz="2400" dirty="0"/>
              <a:t> – Important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51049"/>
            <a:ext cx="809244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b="1" dirty="0"/>
              <a:t>next() </a:t>
            </a:r>
            <a:r>
              <a:rPr sz="2400" dirty="0"/>
              <a:t>moves the cursor to the next row; returns false when no row remains.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b="1" dirty="0" err="1"/>
              <a:t>getInt</a:t>
            </a:r>
            <a:r>
              <a:rPr sz="2400" b="1" dirty="0"/>
              <a:t>(), </a:t>
            </a:r>
            <a:r>
              <a:rPr sz="2400" b="1" dirty="0" err="1"/>
              <a:t>getString</a:t>
            </a:r>
            <a:r>
              <a:rPr sz="2400" b="1" dirty="0"/>
              <a:t>(), </a:t>
            </a:r>
            <a:r>
              <a:rPr sz="2400" b="1" dirty="0" err="1"/>
              <a:t>getDouble</a:t>
            </a:r>
            <a:r>
              <a:rPr sz="2400" b="1" dirty="0"/>
              <a:t>(), </a:t>
            </a:r>
            <a:r>
              <a:rPr sz="2400" b="1" dirty="0" err="1"/>
              <a:t>getDate</a:t>
            </a:r>
            <a:r>
              <a:rPr sz="2400" b="1" dirty="0"/>
              <a:t>() </a:t>
            </a:r>
            <a:r>
              <a:rPr sz="2400" dirty="0"/>
              <a:t>retrieve typed column values.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Columns can be accessed by </a:t>
            </a:r>
            <a:r>
              <a:rPr sz="2400" b="1" dirty="0"/>
              <a:t>column label </a:t>
            </a:r>
            <a:r>
              <a:rPr sz="2400" dirty="0"/>
              <a:t>or </a:t>
            </a:r>
            <a:r>
              <a:rPr sz="2400" b="1" dirty="0"/>
              <a:t>column index</a:t>
            </a:r>
            <a:r>
              <a:rPr sz="2400" dirty="0"/>
              <a:t>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b="1" dirty="0" err="1"/>
              <a:t>wasNull</a:t>
            </a:r>
            <a:r>
              <a:rPr sz="2400" b="1" dirty="0"/>
              <a:t>() </a:t>
            </a:r>
            <a:r>
              <a:rPr sz="2400" dirty="0"/>
              <a:t>can be checked after retrieving a nullable column.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b="1" dirty="0" err="1"/>
              <a:t>ResultSet</a:t>
            </a:r>
            <a:r>
              <a:rPr sz="2400" dirty="0"/>
              <a:t> represents the rows returned by the SELECT statement and should be closed when no longer required.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BA12D-43BB-7301-41EF-81423DE3A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60430"/>
            <a:ext cx="2246489" cy="225920"/>
          </a:xfrm>
        </p:spPr>
        <p:txBody>
          <a:bodyPr/>
          <a:lstStyle/>
          <a:p>
            <a:r>
              <a:rPr lang="fr-FR"/>
              <a:t>Dr. Rajesh M, SCOPE, VIT Chennai.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C7AD8-E31F-426F-F0CF-911D74477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95600" y="205085"/>
            <a:ext cx="438453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400" dirty="0"/>
              <a:t>JDBC – INSERT with </a:t>
            </a:r>
            <a:r>
              <a:rPr sz="2400" dirty="0" err="1"/>
              <a:t>PreparedStatement</a:t>
            </a:r>
            <a:endParaRPr sz="2400" dirty="0"/>
          </a:p>
        </p:txBody>
      </p:sp>
      <p:sp>
        <p:nvSpPr>
          <p:cNvPr id="3" name="Rounded Rectangle 2"/>
          <p:cNvSpPr/>
          <p:nvPr/>
        </p:nvSpPr>
        <p:spPr>
          <a:xfrm>
            <a:off x="1623060" y="925830"/>
            <a:ext cx="6758940" cy="377190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3444" tIns="82296" rIns="123444" rtlCol="0" anchor="ctr"/>
          <a:lstStyle/>
          <a:p>
            <a:pPr>
              <a:defRPr sz="1200">
                <a:latin typeface="Consolas"/>
              </a:defRPr>
            </a:pPr>
            <a:r>
              <a:rPr sz="1600" b="1" dirty="0">
                <a:solidFill>
                  <a:schemeClr val="tx1"/>
                </a:solidFill>
                <a:latin typeface="+mj-lt"/>
              </a:rPr>
              <a:t>String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sql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 = "INSERT INTO STUDENT(SID,SNAME,DEPT,CGPA) " + "VALUES(?,?,?,?)";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try (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PreparedStatement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ps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 =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con.prepareStatement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sql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)) {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ps.setInt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(1, 101);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ps.setString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(2, "Anitha");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ps.setString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(3, "CSE");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ps.setDouble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(4, 8.75);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int rows =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ps.executeUpdate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();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System.out.println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("Rows inserted = " + rows);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9BF4D-823C-E9AA-9212-24203F173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60430"/>
            <a:ext cx="2246489" cy="225920"/>
          </a:xfrm>
        </p:spPr>
        <p:txBody>
          <a:bodyPr/>
          <a:lstStyle/>
          <a:p>
            <a:r>
              <a:rPr lang="fr-FR"/>
              <a:t>Dr. Rajesh M, SCOPE, VIT Chennai.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4DFB5-C157-E73B-4D68-4275A3292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3230" y="171450"/>
            <a:ext cx="291297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400" dirty="0"/>
              <a:t>JDBC – UPDATE Operation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33600" y="819150"/>
            <a:ext cx="4930140" cy="377190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3444" tIns="82296" rIns="123444" rtlCol="0" anchor="ctr"/>
          <a:lstStyle/>
          <a:p>
            <a:pPr>
              <a:defRPr sz="1300">
                <a:latin typeface="Consolas"/>
              </a:defRPr>
            </a:pPr>
            <a:r>
              <a:rPr sz="1600" b="1" dirty="0">
                <a:solidFill>
                  <a:schemeClr val="tx1"/>
                </a:solidFill>
                <a:latin typeface="+mj-lt"/>
              </a:rPr>
              <a:t>String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sql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 =</a:t>
            </a:r>
            <a:r>
              <a:rPr lang="en-IN" sz="1600" b="1" dirty="0">
                <a:solidFill>
                  <a:schemeClr val="tx1"/>
                </a:solidFill>
                <a:latin typeface="+mj-lt"/>
              </a:rPr>
              <a:t> 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"UPDATE STUDENT SET CGPA=? WHERE SID=?";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try (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PreparedStatement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ps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 =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con.prepareStatement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sql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)) {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ps.setDouble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(1, 9.10);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ps.setInt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(2, 101);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int rows =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ps.executeUpdate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();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System.out.println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("Rows updated = " + rows);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540F7-D6E9-F67A-7444-B66A1E4EF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6043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A4D2D-6E0B-FBBD-0EDE-E5026D4A6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65536" y="262793"/>
            <a:ext cx="284725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400" dirty="0"/>
              <a:t>JDBC – DELETE Operation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04060" y="1123950"/>
            <a:ext cx="5768340" cy="304800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3444" tIns="82296" rIns="123444" rtlCol="0" anchor="ctr"/>
          <a:lstStyle/>
          <a:p>
            <a:pPr>
              <a:defRPr sz="1300">
                <a:latin typeface="Consolas"/>
              </a:defRPr>
            </a:pPr>
            <a:r>
              <a:rPr sz="1600" b="1" dirty="0">
                <a:solidFill>
                  <a:schemeClr val="tx1"/>
                </a:solidFill>
                <a:latin typeface="+mj-lt"/>
              </a:rPr>
              <a:t>String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sql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 =  "DELETE FROM STUDENT WHERE SID=?";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try (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PreparedStatement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ps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 =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con.prepareStatement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sql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)) {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ps.setInt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(1, 101);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int rows =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ps.executeUpdate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();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System.out.println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("Rows deleted = " + rows);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C4B6C-1B50-7D90-E792-2E312ADC5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6043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77F08-1AD1-0768-F14D-8EC3A97BC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64884" y="171450"/>
            <a:ext cx="3307316" cy="403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025" dirty="0" err="1"/>
              <a:t>PreparedStatement</a:t>
            </a:r>
            <a:r>
              <a:rPr sz="2025" dirty="0"/>
              <a:t> – Why Use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350" y="857250"/>
            <a:ext cx="809244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Uses placeholders (?) for input values.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Separates SQL structure from supplied values.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Reduces the risk of SQL injection compared with string-concatenated SQL.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Convenient for repeated execution with different parameter values.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Supports type-specific setters such as </a:t>
            </a:r>
            <a:r>
              <a:rPr sz="2400" dirty="0" err="1"/>
              <a:t>setInt</a:t>
            </a:r>
            <a:r>
              <a:rPr sz="2400" dirty="0"/>
              <a:t>(), </a:t>
            </a:r>
            <a:r>
              <a:rPr sz="2400" dirty="0" err="1"/>
              <a:t>setString</a:t>
            </a:r>
            <a:r>
              <a:rPr sz="2400" dirty="0"/>
              <a:t>(), </a:t>
            </a:r>
            <a:r>
              <a:rPr sz="2400" dirty="0" err="1"/>
              <a:t>setDouble</a:t>
            </a:r>
            <a:r>
              <a:rPr sz="2400" dirty="0"/>
              <a:t>() and </a:t>
            </a:r>
            <a:r>
              <a:rPr sz="2400" dirty="0" err="1"/>
              <a:t>setDate</a:t>
            </a:r>
            <a:r>
              <a:rPr sz="2400" dirty="0"/>
              <a:t>().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Use </a:t>
            </a:r>
            <a:r>
              <a:rPr sz="2400" dirty="0" err="1"/>
              <a:t>executeQuery</a:t>
            </a:r>
            <a:r>
              <a:rPr sz="2400" dirty="0"/>
              <a:t>() for statements that return a </a:t>
            </a:r>
            <a:r>
              <a:rPr sz="2400" dirty="0" err="1"/>
              <a:t>ResultSet</a:t>
            </a:r>
            <a:r>
              <a:rPr sz="2400" dirty="0"/>
              <a:t>, such as SELECT.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Use </a:t>
            </a:r>
            <a:r>
              <a:rPr sz="2400" dirty="0" err="1"/>
              <a:t>executeUpdate</a:t>
            </a:r>
            <a:r>
              <a:rPr sz="2400" dirty="0"/>
              <a:t>() for INSERT, UPDATE and DELETE and inspect the returned affected-row count.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1BB9D-7DFE-10AF-FC11-16DD3F024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60430"/>
            <a:ext cx="2246489" cy="225920"/>
          </a:xfrm>
        </p:spPr>
        <p:txBody>
          <a:bodyPr/>
          <a:lstStyle/>
          <a:p>
            <a:r>
              <a:rPr lang="fr-FR"/>
              <a:t>Dr. Rajesh M, SCOPE, VIT Chennai.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7214F-A0EB-D6CB-0A06-A9FB700D3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0989" y="57150"/>
            <a:ext cx="1863011" cy="403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025" dirty="0"/>
              <a:t>JDBC Transactions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51660" y="626804"/>
            <a:ext cx="5387340" cy="294267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3444" tIns="82296" rIns="123444" rtlCol="0" anchor="ctr"/>
          <a:lstStyle/>
          <a:p>
            <a:pPr>
              <a:defRPr sz="1600">
                <a:latin typeface="Consolas"/>
              </a:defRPr>
            </a:pPr>
            <a:r>
              <a:rPr b="1" dirty="0" err="1">
                <a:solidFill>
                  <a:schemeClr val="tx1"/>
                </a:solidFill>
                <a:latin typeface="+mj-lt"/>
              </a:rPr>
              <a:t>con.setAutoCommit</a:t>
            </a:r>
            <a:r>
              <a:rPr b="1" dirty="0">
                <a:solidFill>
                  <a:schemeClr val="tx1"/>
                </a:solidFill>
                <a:latin typeface="+mj-lt"/>
              </a:rPr>
              <a:t>(false);</a:t>
            </a:r>
            <a:br>
              <a:rPr b="1" dirty="0">
                <a:solidFill>
                  <a:schemeClr val="tx1"/>
                </a:solidFill>
                <a:latin typeface="+mj-lt"/>
              </a:rPr>
            </a:br>
            <a:br>
              <a:rPr b="1" dirty="0">
                <a:solidFill>
                  <a:schemeClr val="tx1"/>
                </a:solidFill>
                <a:latin typeface="+mj-lt"/>
              </a:rPr>
            </a:br>
            <a:r>
              <a:rPr b="1" dirty="0">
                <a:solidFill>
                  <a:schemeClr val="tx1"/>
                </a:solidFill>
                <a:latin typeface="+mj-lt"/>
              </a:rPr>
              <a:t>try {</a:t>
            </a:r>
            <a:br>
              <a:rPr b="1" dirty="0">
                <a:solidFill>
                  <a:schemeClr val="tx1"/>
                </a:solidFill>
                <a:latin typeface="+mj-lt"/>
              </a:rPr>
            </a:br>
            <a:r>
              <a:rPr b="1" dirty="0">
                <a:solidFill>
                  <a:schemeClr val="tx1"/>
                </a:solidFill>
                <a:latin typeface="+mj-lt"/>
              </a:rPr>
              <a:t>    // DML operation 1</a:t>
            </a:r>
            <a:br>
              <a:rPr b="1" dirty="0">
                <a:solidFill>
                  <a:schemeClr val="tx1"/>
                </a:solidFill>
                <a:latin typeface="+mj-lt"/>
              </a:rPr>
            </a:br>
            <a:r>
              <a:rPr b="1" dirty="0">
                <a:solidFill>
                  <a:schemeClr val="tx1"/>
                </a:solidFill>
                <a:latin typeface="+mj-lt"/>
              </a:rPr>
              <a:t>    // DML operation 2</a:t>
            </a:r>
            <a:br>
              <a:rPr b="1" dirty="0">
                <a:solidFill>
                  <a:schemeClr val="tx1"/>
                </a:solidFill>
                <a:latin typeface="+mj-lt"/>
              </a:rPr>
            </a:br>
            <a:br>
              <a:rPr b="1" dirty="0">
                <a:solidFill>
                  <a:schemeClr val="tx1"/>
                </a:solidFill>
                <a:latin typeface="+mj-lt"/>
              </a:rPr>
            </a:br>
            <a:r>
              <a:rPr b="1" dirty="0">
                <a:solidFill>
                  <a:schemeClr val="tx1"/>
                </a:solidFill>
                <a:latin typeface="+mj-lt"/>
              </a:rPr>
              <a:t>    </a:t>
            </a:r>
            <a:r>
              <a:rPr b="1" dirty="0" err="1">
                <a:solidFill>
                  <a:schemeClr val="tx1"/>
                </a:solidFill>
                <a:latin typeface="+mj-lt"/>
              </a:rPr>
              <a:t>con.commit</a:t>
            </a:r>
            <a:r>
              <a:rPr b="1" dirty="0">
                <a:solidFill>
                  <a:schemeClr val="tx1"/>
                </a:solidFill>
                <a:latin typeface="+mj-lt"/>
              </a:rPr>
              <a:t>();</a:t>
            </a:r>
            <a:br>
              <a:rPr b="1" dirty="0">
                <a:solidFill>
                  <a:schemeClr val="tx1"/>
                </a:solidFill>
                <a:latin typeface="+mj-lt"/>
              </a:rPr>
            </a:br>
            <a:r>
              <a:rPr b="1" dirty="0">
                <a:solidFill>
                  <a:schemeClr val="tx1"/>
                </a:solidFill>
                <a:latin typeface="+mj-lt"/>
              </a:rPr>
              <a:t>} catch (</a:t>
            </a:r>
            <a:r>
              <a:rPr b="1" dirty="0" err="1">
                <a:solidFill>
                  <a:schemeClr val="tx1"/>
                </a:solidFill>
                <a:latin typeface="+mj-lt"/>
              </a:rPr>
              <a:t>SQLException</a:t>
            </a:r>
            <a:r>
              <a:rPr b="1" dirty="0">
                <a:solidFill>
                  <a:schemeClr val="tx1"/>
                </a:solidFill>
                <a:latin typeface="+mj-lt"/>
              </a:rPr>
              <a:t> e) {</a:t>
            </a:r>
            <a:br>
              <a:rPr b="1" dirty="0">
                <a:solidFill>
                  <a:schemeClr val="tx1"/>
                </a:solidFill>
                <a:latin typeface="+mj-lt"/>
              </a:rPr>
            </a:br>
            <a:r>
              <a:rPr b="1" dirty="0">
                <a:solidFill>
                  <a:schemeClr val="tx1"/>
                </a:solidFill>
                <a:latin typeface="+mj-lt"/>
              </a:rPr>
              <a:t>    </a:t>
            </a:r>
            <a:r>
              <a:rPr b="1" dirty="0" err="1">
                <a:solidFill>
                  <a:schemeClr val="tx1"/>
                </a:solidFill>
                <a:latin typeface="+mj-lt"/>
              </a:rPr>
              <a:t>con.rollback</a:t>
            </a:r>
            <a:r>
              <a:rPr b="1" dirty="0">
                <a:solidFill>
                  <a:schemeClr val="tx1"/>
                </a:solidFill>
                <a:latin typeface="+mj-lt"/>
              </a:rPr>
              <a:t>();</a:t>
            </a:r>
            <a:br>
              <a:rPr b="1" dirty="0">
                <a:solidFill>
                  <a:schemeClr val="tx1"/>
                </a:solidFill>
                <a:latin typeface="+mj-lt"/>
              </a:rPr>
            </a:br>
            <a:r>
              <a:rPr b="1" dirty="0">
                <a:solidFill>
                  <a:schemeClr val="tx1"/>
                </a:solidFill>
                <a:latin typeface="+mj-lt"/>
              </a:rPr>
              <a:t>    throw e;</a:t>
            </a:r>
            <a:br>
              <a:rPr b="1" dirty="0">
                <a:solidFill>
                  <a:schemeClr val="tx1"/>
                </a:solidFill>
                <a:latin typeface="+mj-lt"/>
              </a:rPr>
            </a:br>
            <a:r>
              <a:rPr b="1" dirty="0">
                <a:solidFill>
                  <a:schemeClr val="tx1"/>
                </a:solidFill>
                <a:latin typeface="+mj-lt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3745781"/>
            <a:ext cx="805434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400" b="0"/>
            </a:pPr>
            <a:r>
              <a:rPr sz="1400" b="1" dirty="0"/>
              <a:t>Auto-commit mode commits each statement automatically when enabled.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400" b="0"/>
            </a:pPr>
            <a:r>
              <a:rPr sz="1400" b="1" dirty="0"/>
              <a:t>Disable auto-commit when several DML statements must succeed or fail as one logical unit.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400" b="0"/>
            </a:pPr>
            <a:r>
              <a:rPr sz="1400" b="1" dirty="0"/>
              <a:t>COMMIT makes the transaction permanent; ROLLBACK undoes uncommitted changes.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405386-72A3-3FC2-F4D6-CBB75AC7D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34200" y="4860430"/>
            <a:ext cx="2246489" cy="225920"/>
          </a:xfrm>
        </p:spPr>
        <p:txBody>
          <a:bodyPr/>
          <a:lstStyle/>
          <a:p>
            <a:r>
              <a:rPr lang="fr-FR"/>
              <a:t>Dr. Rajesh M, SCOPE, VIT Chennai.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3F8C0B-12A4-B099-29B7-B7ECADFCB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0" y="338993"/>
            <a:ext cx="277672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400" dirty="0"/>
              <a:t>JDBC Exception Handling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0060" y="1428750"/>
            <a:ext cx="5615940" cy="182118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3444" tIns="82296" rIns="123444" rtlCol="0" anchor="ctr"/>
          <a:lstStyle/>
          <a:p>
            <a:pPr>
              <a:defRPr sz="1500">
                <a:latin typeface="Consolas"/>
              </a:defRPr>
            </a:pPr>
            <a:r>
              <a:rPr sz="1600" b="1" dirty="0">
                <a:solidFill>
                  <a:schemeClr val="tx1"/>
                </a:solidFill>
                <a:latin typeface="+mj-lt"/>
              </a:rPr>
              <a:t>try {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// JDBC operations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} catch (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SQLException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 e) {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System.out.println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("Message: " +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e.getMessage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());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System.out.println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("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SQLState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: " +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e.getSQLState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());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   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System.out.println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("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ErrorCode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: " + </a:t>
            </a:r>
            <a:r>
              <a:rPr sz="1600" b="1" dirty="0" err="1">
                <a:solidFill>
                  <a:schemeClr val="tx1"/>
                </a:solidFill>
                <a:latin typeface="+mj-lt"/>
              </a:rPr>
              <a:t>e.getErrorCode</a:t>
            </a:r>
            <a:r>
              <a:rPr sz="1600" b="1" dirty="0">
                <a:solidFill>
                  <a:schemeClr val="tx1"/>
                </a:solidFill>
                <a:latin typeface="+mj-lt"/>
              </a:rPr>
              <a:t>());</a:t>
            </a:r>
            <a:br>
              <a:rPr sz="1600" b="1" dirty="0">
                <a:solidFill>
                  <a:schemeClr val="tx1"/>
                </a:solidFill>
                <a:latin typeface="+mj-lt"/>
              </a:rPr>
            </a:br>
            <a:r>
              <a:rPr sz="1600" b="1" dirty="0">
                <a:solidFill>
                  <a:schemeClr val="tx1"/>
                </a:solidFill>
                <a:latin typeface="+mj-lt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69031"/>
            <a:ext cx="78867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/>
            </a:pPr>
            <a:r>
              <a:rPr sz="1400" b="1" dirty="0"/>
              <a:t>Typical causes: invalid SQL, connection failure, authentication failure, constraint violation or datatype mismatch.</a:t>
            </a:r>
          </a:p>
          <a:p>
            <a:pPr>
              <a:spcAft>
                <a:spcPts val="600"/>
              </a:spcAft>
              <a:defRPr sz="1300" b="0"/>
            </a:pPr>
            <a:r>
              <a:rPr sz="1400" b="1" dirty="0"/>
              <a:t>Record the </a:t>
            </a:r>
            <a:r>
              <a:rPr sz="1400" b="1" dirty="0" err="1"/>
              <a:t>SQLState</a:t>
            </a:r>
            <a:r>
              <a:rPr sz="1400" b="1" dirty="0"/>
              <a:t>/error code during laboratory debugging.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06352-A1B1-C98F-5835-C9EB6AECD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6043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CC9C1-14F3-41FB-5733-5BF653AF7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2200" y="171450"/>
            <a:ext cx="486864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400" dirty="0"/>
              <a:t>Resource Management – try-with-resources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350" y="857250"/>
            <a:ext cx="8092440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1600" dirty="0"/>
              <a:t>JDBC resources should be closed after use.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1600" dirty="0"/>
              <a:t>try-with-resources automatically closes </a:t>
            </a:r>
            <a:r>
              <a:rPr sz="1600" dirty="0" err="1"/>
              <a:t>AutoCloseable</a:t>
            </a:r>
            <a:r>
              <a:rPr sz="1600" dirty="0"/>
              <a:t> JDBC objects.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1600" dirty="0"/>
              <a:t>Typical hierarchy: Connection → </a:t>
            </a:r>
            <a:r>
              <a:rPr sz="1600" dirty="0" err="1"/>
              <a:t>PreparedStatement</a:t>
            </a:r>
            <a:r>
              <a:rPr sz="1600" dirty="0"/>
              <a:t>/Statement → </a:t>
            </a:r>
            <a:r>
              <a:rPr sz="1600" dirty="0" err="1"/>
              <a:t>ResultSet</a:t>
            </a:r>
            <a:r>
              <a:rPr sz="1600" dirty="0"/>
              <a:t>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1600" dirty="0"/>
              <a:t>This reduces resource leaks and makes application code safer and cleaner.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4350" y="2331720"/>
            <a:ext cx="5581650" cy="214503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3444" tIns="82296" rIns="123444" rtlCol="0" anchor="ctr"/>
          <a:lstStyle/>
          <a:p>
            <a:pPr>
              <a:defRPr sz="1100">
                <a:latin typeface="Consolas"/>
              </a:defRPr>
            </a:pPr>
            <a:r>
              <a:rPr sz="1400" b="1" dirty="0">
                <a:solidFill>
                  <a:schemeClr val="tx1"/>
                </a:solidFill>
                <a:latin typeface="+mj-lt"/>
              </a:rPr>
              <a:t>try (Connection con = </a:t>
            </a:r>
            <a:r>
              <a:rPr sz="1400" b="1" dirty="0" err="1">
                <a:solidFill>
                  <a:schemeClr val="tx1"/>
                </a:solidFill>
                <a:latin typeface="+mj-lt"/>
              </a:rPr>
              <a:t>DriverManager.getConnection</a:t>
            </a:r>
            <a:r>
              <a:rPr sz="1400" b="1" dirty="0">
                <a:solidFill>
                  <a:schemeClr val="tx1"/>
                </a:solidFill>
                <a:latin typeface="+mj-lt"/>
              </a:rPr>
              <a:t>(</a:t>
            </a:r>
            <a:r>
              <a:rPr sz="1400" b="1" dirty="0" err="1">
                <a:solidFill>
                  <a:schemeClr val="tx1"/>
                </a:solidFill>
                <a:latin typeface="+mj-lt"/>
              </a:rPr>
              <a:t>url,user,pwd</a:t>
            </a:r>
            <a:r>
              <a:rPr sz="1400" b="1" dirty="0">
                <a:solidFill>
                  <a:schemeClr val="tx1"/>
                </a:solidFill>
                <a:latin typeface="+mj-lt"/>
              </a:rPr>
              <a:t>);</a:t>
            </a:r>
            <a:br>
              <a:rPr sz="1400" b="1" dirty="0">
                <a:solidFill>
                  <a:schemeClr val="tx1"/>
                </a:solidFill>
                <a:latin typeface="+mj-lt"/>
              </a:rPr>
            </a:br>
            <a:r>
              <a:rPr sz="1400" b="1" dirty="0">
                <a:solidFill>
                  <a:schemeClr val="tx1"/>
                </a:solidFill>
                <a:latin typeface="+mj-lt"/>
              </a:rPr>
              <a:t>     </a:t>
            </a:r>
            <a:r>
              <a:rPr sz="1400" b="1" dirty="0" err="1">
                <a:solidFill>
                  <a:schemeClr val="tx1"/>
                </a:solidFill>
                <a:latin typeface="+mj-lt"/>
              </a:rPr>
              <a:t>PreparedStatement</a:t>
            </a:r>
            <a:r>
              <a:rPr sz="1400" b="1" dirty="0">
                <a:solidFill>
                  <a:schemeClr val="tx1"/>
                </a:solidFill>
                <a:latin typeface="+mj-lt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+mj-lt"/>
              </a:rPr>
              <a:t>ps</a:t>
            </a:r>
            <a:r>
              <a:rPr sz="1400" b="1" dirty="0">
                <a:solidFill>
                  <a:schemeClr val="tx1"/>
                </a:solidFill>
                <a:latin typeface="+mj-lt"/>
              </a:rPr>
              <a:t> = </a:t>
            </a:r>
            <a:r>
              <a:rPr sz="1400" b="1" dirty="0" err="1">
                <a:solidFill>
                  <a:schemeClr val="tx1"/>
                </a:solidFill>
                <a:latin typeface="+mj-lt"/>
              </a:rPr>
              <a:t>con.prepareStatement</a:t>
            </a:r>
            <a:r>
              <a:rPr sz="1400" b="1" dirty="0">
                <a:solidFill>
                  <a:schemeClr val="tx1"/>
                </a:solidFill>
                <a:latin typeface="+mj-lt"/>
              </a:rPr>
              <a:t>(</a:t>
            </a:r>
            <a:r>
              <a:rPr sz="1400" b="1" dirty="0" err="1">
                <a:solidFill>
                  <a:schemeClr val="tx1"/>
                </a:solidFill>
                <a:latin typeface="+mj-lt"/>
              </a:rPr>
              <a:t>sql</a:t>
            </a:r>
            <a:r>
              <a:rPr sz="1400" b="1" dirty="0">
                <a:solidFill>
                  <a:schemeClr val="tx1"/>
                </a:solidFill>
                <a:latin typeface="+mj-lt"/>
              </a:rPr>
              <a:t>);</a:t>
            </a:r>
            <a:br>
              <a:rPr sz="1400" b="1" dirty="0">
                <a:solidFill>
                  <a:schemeClr val="tx1"/>
                </a:solidFill>
                <a:latin typeface="+mj-lt"/>
              </a:rPr>
            </a:br>
            <a:r>
              <a:rPr sz="1400" b="1" dirty="0">
                <a:solidFill>
                  <a:schemeClr val="tx1"/>
                </a:solidFill>
                <a:latin typeface="+mj-lt"/>
              </a:rPr>
              <a:t>     </a:t>
            </a:r>
            <a:r>
              <a:rPr sz="1400" b="1" dirty="0" err="1">
                <a:solidFill>
                  <a:schemeClr val="tx1"/>
                </a:solidFill>
                <a:latin typeface="+mj-lt"/>
              </a:rPr>
              <a:t>ResultSet</a:t>
            </a:r>
            <a:r>
              <a:rPr sz="1400" b="1" dirty="0">
                <a:solidFill>
                  <a:schemeClr val="tx1"/>
                </a:solidFill>
                <a:latin typeface="+mj-lt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+mj-lt"/>
              </a:rPr>
              <a:t>rs</a:t>
            </a:r>
            <a:r>
              <a:rPr sz="1400" b="1" dirty="0">
                <a:solidFill>
                  <a:schemeClr val="tx1"/>
                </a:solidFill>
                <a:latin typeface="+mj-lt"/>
              </a:rPr>
              <a:t> = </a:t>
            </a:r>
            <a:r>
              <a:rPr sz="1400" b="1" dirty="0" err="1">
                <a:solidFill>
                  <a:schemeClr val="tx1"/>
                </a:solidFill>
                <a:latin typeface="+mj-lt"/>
              </a:rPr>
              <a:t>ps.executeQuery</a:t>
            </a:r>
            <a:r>
              <a:rPr sz="1400" b="1" dirty="0">
                <a:solidFill>
                  <a:schemeClr val="tx1"/>
                </a:solidFill>
                <a:latin typeface="+mj-lt"/>
              </a:rPr>
              <a:t>()) {</a:t>
            </a:r>
            <a:br>
              <a:rPr sz="1400" b="1" dirty="0">
                <a:solidFill>
                  <a:schemeClr val="tx1"/>
                </a:solidFill>
                <a:latin typeface="+mj-lt"/>
              </a:rPr>
            </a:br>
            <a:br>
              <a:rPr sz="1400" b="1" dirty="0">
                <a:solidFill>
                  <a:schemeClr val="tx1"/>
                </a:solidFill>
                <a:latin typeface="+mj-lt"/>
              </a:rPr>
            </a:br>
            <a:r>
              <a:rPr sz="1400" b="1" dirty="0">
                <a:solidFill>
                  <a:schemeClr val="tx1"/>
                </a:solidFill>
                <a:latin typeface="+mj-lt"/>
              </a:rPr>
              <a:t>    while (</a:t>
            </a:r>
            <a:r>
              <a:rPr sz="1400" b="1" dirty="0" err="1">
                <a:solidFill>
                  <a:schemeClr val="tx1"/>
                </a:solidFill>
                <a:latin typeface="+mj-lt"/>
              </a:rPr>
              <a:t>rs.next</a:t>
            </a:r>
            <a:r>
              <a:rPr sz="1400" b="1" dirty="0">
                <a:solidFill>
                  <a:schemeClr val="tx1"/>
                </a:solidFill>
                <a:latin typeface="+mj-lt"/>
              </a:rPr>
              <a:t>()) {</a:t>
            </a:r>
            <a:br>
              <a:rPr sz="1400" b="1" dirty="0">
                <a:solidFill>
                  <a:schemeClr val="tx1"/>
                </a:solidFill>
                <a:latin typeface="+mj-lt"/>
              </a:rPr>
            </a:br>
            <a:r>
              <a:rPr sz="1400" b="1" dirty="0">
                <a:solidFill>
                  <a:schemeClr val="tx1"/>
                </a:solidFill>
                <a:latin typeface="+mj-lt"/>
              </a:rPr>
              <a:t>        </a:t>
            </a:r>
            <a:r>
              <a:rPr sz="1400" b="1" dirty="0" err="1">
                <a:solidFill>
                  <a:schemeClr val="tx1"/>
                </a:solidFill>
                <a:latin typeface="+mj-lt"/>
              </a:rPr>
              <a:t>System.out.println</a:t>
            </a:r>
            <a:r>
              <a:rPr sz="1400" b="1" dirty="0">
                <a:solidFill>
                  <a:schemeClr val="tx1"/>
                </a:solidFill>
                <a:latin typeface="+mj-lt"/>
              </a:rPr>
              <a:t>(</a:t>
            </a:r>
            <a:r>
              <a:rPr sz="1400" b="1" dirty="0" err="1">
                <a:solidFill>
                  <a:schemeClr val="tx1"/>
                </a:solidFill>
                <a:latin typeface="+mj-lt"/>
              </a:rPr>
              <a:t>rs.getString</a:t>
            </a:r>
            <a:r>
              <a:rPr sz="1400" b="1" dirty="0">
                <a:solidFill>
                  <a:schemeClr val="tx1"/>
                </a:solidFill>
                <a:latin typeface="+mj-lt"/>
              </a:rPr>
              <a:t>("SNAME"));</a:t>
            </a:r>
            <a:br>
              <a:rPr sz="1400" b="1" dirty="0">
                <a:solidFill>
                  <a:schemeClr val="tx1"/>
                </a:solidFill>
                <a:latin typeface="+mj-lt"/>
              </a:rPr>
            </a:br>
            <a:r>
              <a:rPr sz="1400" b="1" dirty="0">
                <a:solidFill>
                  <a:schemeClr val="tx1"/>
                </a:solidFill>
                <a:latin typeface="+mj-lt"/>
              </a:rPr>
              <a:t>    }</a:t>
            </a:r>
            <a:br>
              <a:rPr sz="1400" b="1" dirty="0">
                <a:solidFill>
                  <a:schemeClr val="tx1"/>
                </a:solidFill>
                <a:latin typeface="+mj-lt"/>
              </a:rPr>
            </a:br>
            <a:r>
              <a:rPr sz="1400" b="1" dirty="0">
                <a:solidFill>
                  <a:schemeClr val="tx1"/>
                </a:solidFill>
                <a:latin typeface="+mj-lt"/>
              </a:rPr>
              <a:t>}</a:t>
            </a:r>
            <a:r>
              <a:rPr lang="en-IN" sz="1400" b="1" dirty="0">
                <a:solidFill>
                  <a:schemeClr val="tx1"/>
                </a:solidFill>
                <a:latin typeface="+mj-lt"/>
              </a:rPr>
              <a:t>A</a:t>
            </a:r>
            <a:endParaRPr sz="14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0839EA-2318-612E-4246-86CB53FC7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6043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D9C73-FEC1-4E1D-C4B6-3B48D0CAD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4158" y="338993"/>
            <a:ext cx="169309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400" dirty="0"/>
              <a:t>ODBC vs JDBC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49033" y="822960"/>
            <a:ext cx="76174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sz="2400" dirty="0"/>
              <a:t>ODBC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7454" y="666750"/>
            <a:ext cx="74732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sz="2400" dirty="0"/>
              <a:t>JDBC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5770" y="1324511"/>
            <a:ext cx="3909060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sz="1600" dirty="0"/>
              <a:t>Open Database Connectivity.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sz="1600" dirty="0"/>
              <a:t>Language/API independent connectivity model.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sz="1600" dirty="0"/>
              <a:t>Uses ODBC Driver Manager and ODBC drivers.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sz="1600" dirty="0"/>
              <a:t>DSN-based configuration is common.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sz="1600" dirty="0"/>
              <a:t>Useful for applications/languages supporting ODBC.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77740" y="1210092"/>
            <a:ext cx="3909060" cy="2123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sz="1600" dirty="0"/>
              <a:t>Java Database Connectivity.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sz="1600" dirty="0"/>
              <a:t>Java-specific standard API.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sz="1600" dirty="0"/>
              <a:t>Uses JDBC interfaces and a JDBC driver.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sz="1600" dirty="0"/>
              <a:t>Type 4 drivers are common in modern Java applications.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600" b="0"/>
            </a:pPr>
            <a:r>
              <a:rPr sz="1600" dirty="0" err="1"/>
              <a:t>PreparedStatement</a:t>
            </a:r>
            <a:r>
              <a:rPr sz="1600" dirty="0"/>
              <a:t>, </a:t>
            </a:r>
            <a:r>
              <a:rPr sz="1600" dirty="0" err="1"/>
              <a:t>ResultSet</a:t>
            </a:r>
            <a:r>
              <a:rPr sz="1600" dirty="0"/>
              <a:t> and transaction APIs are integrated with Java.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5306F7-C3DB-E4BF-7FFD-C8E8F142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6043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D18AC5-2D44-5B68-D339-BF0B8156D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8400" y="171450"/>
            <a:ext cx="424988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400" dirty="0"/>
              <a:t>Retrieval + DML – End-to-End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350" y="1075819"/>
            <a:ext cx="8092440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/>
            </a:pPr>
            <a:r>
              <a:rPr sz="2000" b="1" dirty="0"/>
              <a:t>Scenario: </a:t>
            </a:r>
            <a:r>
              <a:rPr sz="2000" dirty="0"/>
              <a:t>A university front end maintains STUDENT records.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Screen 1: Display all students – SELECT + </a:t>
            </a:r>
            <a:r>
              <a:rPr sz="2000" dirty="0" err="1"/>
              <a:t>ResultSet</a:t>
            </a:r>
            <a:r>
              <a:rPr sz="2000" dirty="0"/>
              <a:t>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Screen 2: Search by department – parameterized SELECT.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Screen 3: Add student – INSERT + </a:t>
            </a:r>
            <a:r>
              <a:rPr sz="2000" dirty="0" err="1"/>
              <a:t>PreparedStatement</a:t>
            </a:r>
            <a:r>
              <a:rPr sz="2000" dirty="0"/>
              <a:t>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Screen 4: Edit CGPA – UPDATE + </a:t>
            </a:r>
            <a:r>
              <a:rPr sz="2000" dirty="0" err="1"/>
              <a:t>PreparedStatement</a:t>
            </a:r>
            <a:r>
              <a:rPr sz="2000" dirty="0"/>
              <a:t> + affected-row count.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Screen 5: Delete student – DELETE + confirmation + transaction control.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Screen 6: Display operation status and database errors to the user.</a:t>
            </a:r>
          </a:p>
          <a:p>
            <a:pPr>
              <a:spcAft>
                <a:spcPts val="600"/>
              </a:spcAft>
              <a:defRPr sz="1800" b="0"/>
            </a:pPr>
            <a:r>
              <a:rPr sz="2000" dirty="0"/>
              <a:t>The same business operations can be implemented using ODBC or JDBC depending on the front-end technology.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35AC6-20C1-5C9B-29BA-20EB4F5D5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60430"/>
            <a:ext cx="2246489" cy="225920"/>
          </a:xfrm>
        </p:spPr>
        <p:txBody>
          <a:bodyPr/>
          <a:lstStyle/>
          <a:p>
            <a:r>
              <a:rPr lang="fr-FR"/>
              <a:t>Dr. Rajesh M, SCOPE, VIT Chennai.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F7175-C53D-1048-4AA3-3EDCF6313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42848" y="205085"/>
            <a:ext cx="290175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400" dirty="0"/>
              <a:t>Suggested STUDENT Table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48740" y="925830"/>
            <a:ext cx="6423660" cy="377190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3444" tIns="82296" rIns="123444" rtlCol="0" anchor="ctr"/>
          <a:lstStyle/>
          <a:p>
            <a:pPr>
              <a:defRPr sz="1100">
                <a:latin typeface="Consolas"/>
              </a:defRPr>
            </a:pPr>
            <a:r>
              <a:rPr sz="1200" b="1" dirty="0">
                <a:solidFill>
                  <a:schemeClr val="tx1"/>
                </a:solidFill>
                <a:latin typeface="+mj-lt"/>
              </a:rPr>
              <a:t>CREATE TABLE STUDENT (</a:t>
            </a:r>
            <a:br>
              <a:rPr sz="1200" b="1" dirty="0">
                <a:solidFill>
                  <a:schemeClr val="tx1"/>
                </a:solidFill>
                <a:latin typeface="+mj-lt"/>
              </a:rPr>
            </a:br>
            <a:r>
              <a:rPr sz="1200" b="1" dirty="0">
                <a:solidFill>
                  <a:schemeClr val="tx1"/>
                </a:solidFill>
                <a:latin typeface="+mj-lt"/>
              </a:rPr>
              <a:t>    SID     NUMBER(5) PRIMARY KEY,</a:t>
            </a:r>
            <a:br>
              <a:rPr sz="1200" b="1" dirty="0">
                <a:solidFill>
                  <a:schemeClr val="tx1"/>
                </a:solidFill>
                <a:latin typeface="+mj-lt"/>
              </a:rPr>
            </a:br>
            <a:r>
              <a:rPr sz="1200" b="1" dirty="0">
                <a:solidFill>
                  <a:schemeClr val="tx1"/>
                </a:solidFill>
                <a:latin typeface="+mj-lt"/>
              </a:rPr>
              <a:t>    SNAME   VARCHAR2(30) NOT NULL,</a:t>
            </a:r>
            <a:br>
              <a:rPr sz="1200" b="1" dirty="0">
                <a:solidFill>
                  <a:schemeClr val="tx1"/>
                </a:solidFill>
                <a:latin typeface="+mj-lt"/>
              </a:rPr>
            </a:br>
            <a:r>
              <a:rPr sz="1200" b="1" dirty="0">
                <a:solidFill>
                  <a:schemeClr val="tx1"/>
                </a:solidFill>
                <a:latin typeface="+mj-lt"/>
              </a:rPr>
              <a:t>    DEPT    VARCHAR2(10),</a:t>
            </a:r>
            <a:br>
              <a:rPr sz="1200" b="1" dirty="0">
                <a:solidFill>
                  <a:schemeClr val="tx1"/>
                </a:solidFill>
                <a:latin typeface="+mj-lt"/>
              </a:rPr>
            </a:br>
            <a:r>
              <a:rPr sz="1200" b="1" dirty="0">
                <a:solidFill>
                  <a:schemeClr val="tx1"/>
                </a:solidFill>
                <a:latin typeface="+mj-lt"/>
              </a:rPr>
              <a:t>    CGPA    NUMBER(3,2),</a:t>
            </a:r>
            <a:br>
              <a:rPr sz="1200" b="1" dirty="0">
                <a:solidFill>
                  <a:schemeClr val="tx1"/>
                </a:solidFill>
                <a:latin typeface="+mj-lt"/>
              </a:rPr>
            </a:br>
            <a:r>
              <a:rPr sz="1200" b="1" dirty="0">
                <a:solidFill>
                  <a:schemeClr val="tx1"/>
                </a:solidFill>
                <a:latin typeface="+mj-lt"/>
              </a:rPr>
              <a:t>    EMAIL   VARCHAR2(50),</a:t>
            </a:r>
            <a:br>
              <a:rPr sz="1200" b="1" dirty="0">
                <a:solidFill>
                  <a:schemeClr val="tx1"/>
                </a:solidFill>
                <a:latin typeface="+mj-lt"/>
              </a:rPr>
            </a:br>
            <a:r>
              <a:rPr sz="1200" b="1" dirty="0">
                <a:solidFill>
                  <a:schemeClr val="tx1"/>
                </a:solidFill>
                <a:latin typeface="+mj-lt"/>
              </a:rPr>
              <a:t>    DOB     DATE</a:t>
            </a:r>
            <a:br>
              <a:rPr sz="1200" b="1" dirty="0">
                <a:solidFill>
                  <a:schemeClr val="tx1"/>
                </a:solidFill>
                <a:latin typeface="+mj-lt"/>
              </a:rPr>
            </a:br>
            <a:r>
              <a:rPr sz="1200" b="1" dirty="0">
                <a:solidFill>
                  <a:schemeClr val="tx1"/>
                </a:solidFill>
                <a:latin typeface="+mj-lt"/>
              </a:rPr>
              <a:t>);</a:t>
            </a:r>
            <a:br>
              <a:rPr sz="1200" b="1" dirty="0">
                <a:solidFill>
                  <a:schemeClr val="tx1"/>
                </a:solidFill>
                <a:latin typeface="+mj-lt"/>
              </a:rPr>
            </a:br>
            <a:br>
              <a:rPr sz="1200" b="1" dirty="0">
                <a:solidFill>
                  <a:schemeClr val="tx1"/>
                </a:solidFill>
                <a:latin typeface="+mj-lt"/>
              </a:rPr>
            </a:br>
            <a:r>
              <a:rPr sz="1200" b="1" dirty="0">
                <a:solidFill>
                  <a:schemeClr val="tx1"/>
                </a:solidFill>
                <a:latin typeface="+mj-lt"/>
              </a:rPr>
              <a:t>INSERT INTO STUDENT</a:t>
            </a:r>
            <a:br>
              <a:rPr sz="1200" b="1" dirty="0">
                <a:solidFill>
                  <a:schemeClr val="tx1"/>
                </a:solidFill>
                <a:latin typeface="+mj-lt"/>
              </a:rPr>
            </a:br>
            <a:r>
              <a:rPr sz="1200" b="1" dirty="0">
                <a:solidFill>
                  <a:schemeClr val="tx1"/>
                </a:solidFill>
                <a:latin typeface="+mj-lt"/>
              </a:rPr>
              <a:t>VALUES (101,'Anitha','CSE',8.75,'anitha@mail.com',</a:t>
            </a:r>
            <a:br>
              <a:rPr sz="1200" b="1" dirty="0">
                <a:solidFill>
                  <a:schemeClr val="tx1"/>
                </a:solidFill>
                <a:latin typeface="+mj-lt"/>
              </a:rPr>
            </a:br>
            <a:r>
              <a:rPr sz="1200" b="1" dirty="0">
                <a:solidFill>
                  <a:schemeClr val="tx1"/>
                </a:solidFill>
                <a:latin typeface="+mj-lt"/>
              </a:rPr>
              <a:t>        DATE '2005-06-12');</a:t>
            </a:r>
            <a:br>
              <a:rPr sz="1200" b="1" dirty="0">
                <a:solidFill>
                  <a:schemeClr val="tx1"/>
                </a:solidFill>
                <a:latin typeface="+mj-lt"/>
              </a:rPr>
            </a:br>
            <a:br>
              <a:rPr sz="1200" b="1" dirty="0">
                <a:solidFill>
                  <a:schemeClr val="tx1"/>
                </a:solidFill>
                <a:latin typeface="+mj-lt"/>
              </a:rPr>
            </a:br>
            <a:r>
              <a:rPr sz="1200" b="1" dirty="0">
                <a:solidFill>
                  <a:schemeClr val="tx1"/>
                </a:solidFill>
                <a:latin typeface="+mj-lt"/>
              </a:rPr>
              <a:t>INSERT INTO STUDENT</a:t>
            </a:r>
            <a:br>
              <a:rPr sz="1200" b="1" dirty="0">
                <a:solidFill>
                  <a:schemeClr val="tx1"/>
                </a:solidFill>
                <a:latin typeface="+mj-lt"/>
              </a:rPr>
            </a:br>
            <a:r>
              <a:rPr sz="1200" b="1" dirty="0">
                <a:solidFill>
                  <a:schemeClr val="tx1"/>
                </a:solidFill>
                <a:latin typeface="+mj-lt"/>
              </a:rPr>
              <a:t>VALUES (102,'Bharath','ECE',7.90,'bharath@mail.com',</a:t>
            </a:r>
            <a:br>
              <a:rPr sz="1200" b="1" dirty="0">
                <a:solidFill>
                  <a:schemeClr val="tx1"/>
                </a:solidFill>
                <a:latin typeface="+mj-lt"/>
              </a:rPr>
            </a:br>
            <a:r>
              <a:rPr sz="1200" b="1" dirty="0">
                <a:solidFill>
                  <a:schemeClr val="tx1"/>
                </a:solidFill>
                <a:latin typeface="+mj-lt"/>
              </a:rPr>
              <a:t>        DATE '2004-11-08');</a:t>
            </a:r>
            <a:br>
              <a:rPr sz="1200" b="1" dirty="0">
                <a:solidFill>
                  <a:schemeClr val="tx1"/>
                </a:solidFill>
                <a:latin typeface="+mj-lt"/>
              </a:rPr>
            </a:br>
            <a:br>
              <a:rPr sz="1200" b="1" dirty="0">
                <a:solidFill>
                  <a:schemeClr val="tx1"/>
                </a:solidFill>
                <a:latin typeface="+mj-lt"/>
              </a:rPr>
            </a:br>
            <a:r>
              <a:rPr sz="1200" b="1" dirty="0">
                <a:solidFill>
                  <a:schemeClr val="tx1"/>
                </a:solidFill>
                <a:latin typeface="+mj-lt"/>
              </a:rPr>
              <a:t>COMMIT;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9414A-44A3-8E36-DF4E-0CDD2D4BB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5775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1B633-52D2-BF29-BDCA-F5B96D6D5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432EE-65F3-AB04-43A7-D3C5D38AF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043B5D-4CE6-07AB-DD64-D473A88D5893}"/>
              </a:ext>
            </a:extLst>
          </p:cNvPr>
          <p:cNvSpPr txBox="1"/>
          <p:nvPr/>
        </p:nvSpPr>
        <p:spPr>
          <a:xfrm>
            <a:off x="3242848" y="205085"/>
            <a:ext cx="266771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400" dirty="0"/>
              <a:t>S</a:t>
            </a:r>
            <a:r>
              <a:rPr lang="en-IN" sz="2400" dirty="0" err="1"/>
              <a:t>tep</a:t>
            </a:r>
            <a:r>
              <a:rPr lang="en-IN" sz="2400" dirty="0"/>
              <a:t> by step Procedure</a:t>
            </a:r>
            <a:endParaRPr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B00AF-C295-ACCB-4B4B-6EC6763B5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5775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784B6-3B9B-4A1B-19E3-6A2CC517C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02DBC3-5057-0153-881F-D6C060494771}"/>
              </a:ext>
            </a:extLst>
          </p:cNvPr>
          <p:cNvSpPr txBox="1"/>
          <p:nvPr/>
        </p:nvSpPr>
        <p:spPr>
          <a:xfrm>
            <a:off x="1066800" y="1129427"/>
            <a:ext cx="60198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2400"/>
              </a:spcBef>
              <a:buNone/>
            </a:pPr>
            <a:r>
              <a:rPr lang="en-US" sz="1800" b="1" kern="0" dirty="0">
                <a:solidFill>
                  <a:schemeClr val="tx1"/>
                </a:solidFill>
                <a:effectLst/>
                <a:latin typeface="+mn-lt"/>
                <a:ea typeface="MS Gothic" panose="020B0609070205080204" pitchFamily="49" charset="-128"/>
                <a:cs typeface="Times New Roman" panose="02020603050405020304" pitchFamily="18" charset="0"/>
              </a:rPr>
              <a:t>Recommended Workflow</a:t>
            </a:r>
            <a:endParaRPr lang="en-IN" sz="1800" b="1" kern="0" dirty="0">
              <a:solidFill>
                <a:schemeClr val="tx1"/>
              </a:solidFill>
              <a:effectLst/>
              <a:latin typeface="+mn-lt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SQL*Plus: create/verify the database objects and initial data.</a:t>
            </a:r>
            <a:endParaRPr lang="en-IN" sz="1800" dirty="0">
              <a:effectLst/>
              <a:latin typeface="+mn-lt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Configure the Oracle JDBC driver in the Java project.</a:t>
            </a:r>
            <a:endParaRPr lang="en-IN" sz="1800" dirty="0">
              <a:effectLst/>
              <a:latin typeface="+mn-lt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Connect the Java front end to Oracle.</a:t>
            </a:r>
            <a:endParaRPr lang="en-IN" sz="1800" dirty="0">
              <a:effectLst/>
              <a:latin typeface="+mn-lt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Perform SELECT using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ResultSet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n-IN" sz="1800" dirty="0">
              <a:effectLst/>
              <a:latin typeface="+mn-lt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Perform INSERT, UPDATE and DELETE using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PreparedStatement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n-IN" sz="1800" dirty="0">
              <a:effectLst/>
              <a:latin typeface="+mn-lt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Demonstrate COMMIT and ROLLBACK.</a:t>
            </a:r>
            <a:endParaRPr lang="en-IN" sz="1800" dirty="0">
              <a:effectLst/>
              <a:latin typeface="+mn-lt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Configure an ODBC DSN if required.</a:t>
            </a:r>
            <a:endParaRPr lang="en-IN" sz="1800" dirty="0">
              <a:effectLst/>
              <a:latin typeface="+mn-lt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100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Verify the final state from SQL*Plus.</a:t>
            </a:r>
            <a:endParaRPr lang="en-IN" sz="1050" dirty="0">
              <a:effectLst/>
              <a:latin typeface="Aptos" panose="020B00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52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3701A-40C9-C3DE-6C43-F134C3EC8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3E923-E3A3-BA78-5066-88CC21DBC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5775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BF487-DCEB-01FE-124F-2403511C0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A41D4B5-F009-2900-EF7D-1BC555505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721" y="285750"/>
            <a:ext cx="5712279" cy="1169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304704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+mj-lt"/>
                <a:ea typeface="MS Gothic" panose="020B0609070205080204" pitchFamily="49" charset="-128"/>
                <a:cs typeface="Times New Roman" panose="02020603050405020304" pitchFamily="18" charset="0"/>
              </a:rPr>
              <a:t>Step 1 — SQL*Plus Login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Connect using the database account supplied for your laboratory. The service name is environment-dependent.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6006BBFD-172C-A384-C060-109E6B79B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30530"/>
            <a:ext cx="6035675" cy="326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F894A758-C256-0DF1-7879-013127A2F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474518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77018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3E7FD-75A3-0FF1-60A9-2E3B3A819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9A102-9DED-B2B6-3DB1-7299A9A1F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5775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FD59C-6675-80DC-FA5D-3D64B718D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B31B3F3-6F39-903A-D906-6D6176C10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-826"/>
            <a:ext cx="3276600" cy="1277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304704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+mj-lt"/>
                <a:ea typeface="MS Gothic" panose="020B0609070205080204" pitchFamily="49" charset="-128"/>
                <a:cs typeface="Times New Roman" panose="02020603050405020304" pitchFamily="18" charset="0"/>
              </a:rPr>
              <a:t>Step 2 — Create STUDENT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Create the STUDENT table before front-end operations.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pic>
        <p:nvPicPr>
          <p:cNvPr id="2049" name="Picture 2">
            <a:extLst>
              <a:ext uri="{FF2B5EF4-FFF2-40B4-BE49-F238E27FC236}">
                <a16:creationId xmlns:a16="http://schemas.microsoft.com/office/drawing/2014/main" id="{23A4A7B2-1063-8E38-2147-F6275C06C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201341"/>
            <a:ext cx="6035675" cy="326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835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441AF-7C90-B425-EAD9-FB59A3482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E01EB-3092-2E54-7695-1228D8A33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5775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3C225-7324-F48E-E9D7-844B9F52B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E359356-3638-BD6F-58EF-D7E27CB47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474518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atin typeface="+mj-lt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128D17B-92DA-39C4-E6E7-EF755C1AF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54464"/>
            <a:ext cx="3200400" cy="800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304704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+mj-lt"/>
                <a:ea typeface="MS Gothic" panose="020B0609070205080204" pitchFamily="49" charset="-128"/>
                <a:cs typeface="Times New Roman" panose="02020603050405020304" pitchFamily="18" charset="0"/>
              </a:rPr>
              <a:t>Step 3 — INSERT and COMMIT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Insert the initial sample records and commit them.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pic>
        <p:nvPicPr>
          <p:cNvPr id="3073" name="Picture 3">
            <a:extLst>
              <a:ext uri="{FF2B5EF4-FFF2-40B4-BE49-F238E27FC236}">
                <a16:creationId xmlns:a16="http://schemas.microsoft.com/office/drawing/2014/main" id="{9292E042-4699-70EB-65EF-37612777E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60487"/>
            <a:ext cx="6035675" cy="326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3798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59887-5257-8D1F-3DE0-A1301FB34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17458-9A42-CD04-1D76-718AEA09D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5775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4DA01-E419-B236-F097-B40A1E87D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93BAA87-862F-EFC7-642D-EF8AC1435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474518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atin typeface="+mj-lt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E9EDED5-ED62-AEEA-2FDC-BBC559BFE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5358"/>
            <a:ext cx="4370107" cy="1431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304704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+mj-lt"/>
                <a:ea typeface="MS Gothic" panose="020B0609070205080204" pitchFamily="49" charset="-128"/>
                <a:cs typeface="Times New Roman" panose="02020603050405020304" pitchFamily="18" charset="0"/>
              </a:rPr>
              <a:t>Step 4 — JDBC Driver Setup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Add the Oracle JDBC driver (ojdbc*.jar or your lab-specified dependency).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pic>
        <p:nvPicPr>
          <p:cNvPr id="4097" name="Picture 4">
            <a:extLst>
              <a:ext uri="{FF2B5EF4-FFF2-40B4-BE49-F238E27FC236}">
                <a16:creationId xmlns:a16="http://schemas.microsoft.com/office/drawing/2014/main" id="{7A4C94FD-DC3D-2705-CE7C-1802CC1FA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208087"/>
            <a:ext cx="6035675" cy="326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646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00E6B-FAFB-CFD5-8D4E-5ADDC833B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C41A0-87F8-E57A-98AB-7F623D5C4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5775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29888-5EC0-1D2E-E551-AA43DAAE1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F91CE33-FA37-BE39-E84F-156852AC7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474518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atin typeface="+mj-lt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7178DB7-5AA5-D4F5-A13C-D7ED15EB5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11558"/>
            <a:ext cx="4698722" cy="1431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304704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+mj-lt"/>
                <a:ea typeface="MS Gothic" panose="020B0609070205080204" pitchFamily="49" charset="-128"/>
                <a:cs typeface="Times New Roman" panose="02020603050405020304" pitchFamily="18" charset="0"/>
              </a:rPr>
              <a:t>Step 5 — JDBC Connection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Use the JDBC URL appropriate to your Oracle installation. XEPDB1 is an example.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pic>
        <p:nvPicPr>
          <p:cNvPr id="5121" name="Picture 5">
            <a:extLst>
              <a:ext uri="{FF2B5EF4-FFF2-40B4-BE49-F238E27FC236}">
                <a16:creationId xmlns:a16="http://schemas.microsoft.com/office/drawing/2014/main" id="{4B1B8EB4-01FF-6214-EE7E-81AB41DEF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565" y="1283380"/>
            <a:ext cx="6035675" cy="326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A1D6E11C-9BCA-BFB3-57C9-63092BE9B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062741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28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6302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F77CC-4E17-B0FD-1B25-1F5DAA80A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4B51D-877D-0809-D8AD-0BA1419A9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5775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5142C-4B3B-56FB-964F-B95728827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EE94F33-F5B4-7FF3-4FA1-72162589A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474518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atin typeface="+mj-lt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68DB14C-7D79-8AEB-9CAB-E5A730D09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57150"/>
            <a:ext cx="3228769" cy="1431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304704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+mj-lt"/>
                <a:ea typeface="MS Gothic" panose="020B0609070205080204" pitchFamily="49" charset="-128"/>
                <a:cs typeface="Times New Roman" panose="02020603050405020304" pitchFamily="18" charset="0"/>
              </a:rPr>
              <a:t>Step 6 — SELECT /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+mj-lt"/>
                <a:ea typeface="MS Gothic" panose="020B0609070205080204" pitchFamily="49" charset="-128"/>
                <a:cs typeface="Times New Roman" panose="02020603050405020304" pitchFamily="18" charset="0"/>
              </a:rPr>
              <a:t>ResultSet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+mj-lt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Execute SELECT and iterate through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ResultSet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pic>
        <p:nvPicPr>
          <p:cNvPr id="6145" name="Picture 6">
            <a:extLst>
              <a:ext uri="{FF2B5EF4-FFF2-40B4-BE49-F238E27FC236}">
                <a16:creationId xmlns:a16="http://schemas.microsoft.com/office/drawing/2014/main" id="{7BC99414-C9C4-B466-9C96-9E279BE92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360487"/>
            <a:ext cx="6035675" cy="326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499FD082-9816-11EB-9CD5-3262D3B13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2920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82801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E438F-FA06-5106-AC85-0E7E5F862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DB805-0FFA-0126-58DB-E818F2EDD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5775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D2BBA-B993-BCF8-60B1-CB5879FA2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411F25A-416B-CD90-DF29-B86AD42B5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474518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atin typeface="+mj-lt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39FD4DC-F00C-DCA9-1B3C-421F28C10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33350"/>
            <a:ext cx="4257897" cy="938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304704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+mj-lt"/>
                <a:ea typeface="MS Gothic" panose="020B0609070205080204" pitchFamily="49" charset="-128"/>
                <a:cs typeface="Times New Roman" panose="02020603050405020304" pitchFamily="18" charset="0"/>
              </a:rPr>
              <a:t>Step 7 — INSERT /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+mj-lt"/>
                <a:ea typeface="MS Gothic" panose="020B0609070205080204" pitchFamily="49" charset="-128"/>
                <a:cs typeface="Times New Roman" panose="02020603050405020304" pitchFamily="18" charset="0"/>
              </a:rPr>
              <a:t>PreparedStatement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+mj-lt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Use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PreparedStatement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 for values supplied by the front end.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pic>
        <p:nvPicPr>
          <p:cNvPr id="7169" name="Picture 7">
            <a:extLst>
              <a:ext uri="{FF2B5EF4-FFF2-40B4-BE49-F238E27FC236}">
                <a16:creationId xmlns:a16="http://schemas.microsoft.com/office/drawing/2014/main" id="{5E34EEFF-AA1A-0436-1E93-E34BC4698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360487"/>
            <a:ext cx="6035675" cy="326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0039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D4BFF-B7C1-D148-95EC-55D840FE8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D80E5-CD74-F031-511C-0050FC8CF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5775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E7FDF-F567-35A2-4AA1-C10C8E468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727805C-5282-E308-C9E5-1F5A1AD21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474518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atin typeface="+mj-lt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C08B296-FC58-A699-3F02-CA210A74D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33350"/>
            <a:ext cx="3273653" cy="1431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304704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+mj-lt"/>
                <a:ea typeface="MS Gothic" panose="020B0609070205080204" pitchFamily="49" charset="-128"/>
                <a:cs typeface="Times New Roman" panose="02020603050405020304" pitchFamily="18" charset="0"/>
              </a:rPr>
              <a:t>Step 8 — UPDATE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Use a parameterized UPDATE and check affected rows.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pic>
        <p:nvPicPr>
          <p:cNvPr id="8193" name="Picture 8">
            <a:extLst>
              <a:ext uri="{FF2B5EF4-FFF2-40B4-BE49-F238E27FC236}">
                <a16:creationId xmlns:a16="http://schemas.microsoft.com/office/drawing/2014/main" id="{D6BC7CC5-2045-5A46-08BE-9D65BB704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925" y="1360487"/>
            <a:ext cx="6035675" cy="326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754DD1DC-4721-4B55-2C4D-B12843380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184364"/>
            <a:ext cx="1847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32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376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08D5F-DE99-55AF-190C-DC357D56E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8CD7F-5A87-A795-9F78-314AE4AA8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5775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09F43-5C35-A41F-CB16-BBB3F7B7C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0DE0D09-76A5-09EF-6731-2BB14E693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474518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atin typeface="+mj-lt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BF184D3-82AC-8905-849D-91C6465E4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64647"/>
            <a:ext cx="3244799" cy="1431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304704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+mj-lt"/>
                <a:ea typeface="MS Gothic" panose="020B0609070205080204" pitchFamily="49" charset="-128"/>
                <a:cs typeface="Times New Roman" panose="02020603050405020304" pitchFamily="18" charset="0"/>
              </a:rPr>
              <a:t>Step 9 — DELETE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Use a parameterized DELETE and verify the target SID.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pic>
        <p:nvPicPr>
          <p:cNvPr id="9217" name="Picture 9">
            <a:extLst>
              <a:ext uri="{FF2B5EF4-FFF2-40B4-BE49-F238E27FC236}">
                <a16:creationId xmlns:a16="http://schemas.microsoft.com/office/drawing/2014/main" id="{333246A7-249A-3555-AFEE-CDD02574F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352550"/>
            <a:ext cx="6035675" cy="326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0510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FB568-CB45-203D-8EAC-C63E7D11D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25F75-25A0-2E62-9B92-18A7818B4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5775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837DE-74A4-DEC0-31F3-95311E1F6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A2D9FCD-A606-BF4C-4515-7915E067D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474518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atin typeface="+mj-lt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7A82A73-388F-61AC-E185-34C81D13B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33350"/>
            <a:ext cx="4161717" cy="1431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304704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+mj-lt"/>
                <a:ea typeface="MS Gothic" panose="020B0609070205080204" pitchFamily="49" charset="-128"/>
                <a:cs typeface="Times New Roman" panose="02020603050405020304" pitchFamily="18" charset="0"/>
              </a:rPr>
              <a:t>Step 10 — COMMIT / ROLLBACK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Use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setAutoCommit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(false), commit on success, and rollback on failure.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pic>
        <p:nvPicPr>
          <p:cNvPr id="10241" name="Picture 10">
            <a:extLst>
              <a:ext uri="{FF2B5EF4-FFF2-40B4-BE49-F238E27FC236}">
                <a16:creationId xmlns:a16="http://schemas.microsoft.com/office/drawing/2014/main" id="{ADAE499A-CE51-6F8A-503C-1CE4F4080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276350"/>
            <a:ext cx="6035675" cy="326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9780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4AD78-37FC-4F25-6D46-685B5CA03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F03C4-E45D-12E4-5F8B-DD09D5A14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5775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4DBC1-D851-06AF-A44D-D25A1E792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2EA6A00-2290-BAD3-0351-B971C051A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474518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atin typeface="+mj-lt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2691989-D05D-2E21-794A-D525047E1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125" y="125457"/>
            <a:ext cx="4317207" cy="1431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304704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+mj-lt"/>
                <a:ea typeface="MS Gothic" panose="020B0609070205080204" pitchFamily="49" charset="-128"/>
                <a:cs typeface="Times New Roman" panose="02020603050405020304" pitchFamily="18" charset="0"/>
              </a:rPr>
              <a:t>Step 11 — ODBC DSN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Configure an ODBC DSN using the Oracle ODBC driver available in the lab.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pic>
        <p:nvPicPr>
          <p:cNvPr id="11265" name="Picture 11">
            <a:extLst>
              <a:ext uri="{FF2B5EF4-FFF2-40B4-BE49-F238E27FC236}">
                <a16:creationId xmlns:a16="http://schemas.microsoft.com/office/drawing/2014/main" id="{32759CE5-ABE9-33B1-0F05-B686CA58D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417637"/>
            <a:ext cx="6035675" cy="326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3467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C630F-9D74-82EE-004C-9470D4933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03DAD-AAA1-9A75-C5BD-FFF865292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5775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7A997-BD84-762F-CD12-3D068F19E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FF58D0A-5CFA-2C22-38B8-DF1BC3B2B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474518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atin typeface="+mj-lt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0DFA578-9909-BAB1-62FB-8102DA70C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5725" y="109128"/>
            <a:ext cx="3268844" cy="938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304704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+mj-lt"/>
                <a:ea typeface="MS Gothic" panose="020B0609070205080204" pitchFamily="49" charset="-128"/>
                <a:cs typeface="Times New Roman" panose="02020603050405020304" pitchFamily="18" charset="0"/>
              </a:rPr>
              <a:t>Step 12 — Final Verification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Return to SQL*Plus and verify the final database state.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pic>
        <p:nvPicPr>
          <p:cNvPr id="12289" name="Picture 12">
            <a:extLst>
              <a:ext uri="{FF2B5EF4-FFF2-40B4-BE49-F238E27FC236}">
                <a16:creationId xmlns:a16="http://schemas.microsoft.com/office/drawing/2014/main" id="{417CD763-9F42-8128-898B-91B524661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725" y="1352550"/>
            <a:ext cx="6035675" cy="326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5963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0" y="219730"/>
            <a:ext cx="277992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400" dirty="0"/>
              <a:t>Front-End Retrieval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5750" y="1261229"/>
            <a:ext cx="85534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Create a front-end screen/program that displays SID, SNAME, DEPT and CGPA.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Connect to the database using JDBC or ODBC.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Execute a SELECT statement.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Fetch and display all rows.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Add a department input and display only matching students.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Display a suitable message when no matching rows are returned.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Capture the SQL/Java source and output for the laboratory record.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D27C4-AAC4-9F65-CFAC-9B0446816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6043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C8817-82FA-46AD-ED37-FF8041407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7282" y="295930"/>
            <a:ext cx="231826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400" dirty="0"/>
              <a:t> Front-End DML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350" y="1121241"/>
            <a:ext cx="8092440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b="1" dirty="0"/>
              <a:t>INSERT: </a:t>
            </a:r>
            <a:r>
              <a:rPr sz="2400" dirty="0"/>
              <a:t>accept student details from the front end and insert a new row.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b="1" dirty="0"/>
              <a:t>UPDATE: </a:t>
            </a:r>
            <a:r>
              <a:rPr sz="2400" dirty="0"/>
              <a:t>accept SID and new CGPA; display the number of rows updated.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b="1" dirty="0"/>
              <a:t>DELETE: </a:t>
            </a:r>
            <a:r>
              <a:rPr sz="2400" dirty="0"/>
              <a:t>accept SID after confirmation and display the number of rows deleted.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b="1" dirty="0"/>
              <a:t>Validate</a:t>
            </a:r>
            <a:r>
              <a:rPr sz="2400" dirty="0"/>
              <a:t> required fields before sending SQL.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Use </a:t>
            </a:r>
            <a:r>
              <a:rPr sz="2400" dirty="0" err="1"/>
              <a:t>PreparedStatement</a:t>
            </a:r>
            <a:r>
              <a:rPr sz="2400" dirty="0"/>
              <a:t>/parameter binding.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400" dirty="0"/>
              <a:t>Commit successful operations and rollback when an operation fails as part of a transaction.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A7531-344F-1E50-1866-A4570025C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5775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C7CB3-667C-826B-8C58-1C382DF97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8400" y="171450"/>
            <a:ext cx="377699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400" dirty="0"/>
              <a:t>Scenario-Based Challenging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350" y="857251"/>
            <a:ext cx="8092440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/>
            </a:pPr>
            <a:r>
              <a:rPr dirty="0"/>
              <a:t>1. Student Search: build a parameterized search by department and minimum CGPA.</a:t>
            </a:r>
          </a:p>
          <a:p>
            <a:pPr>
              <a:spcAft>
                <a:spcPts val="600"/>
              </a:spcAft>
              <a:defRPr sz="1800" b="0"/>
            </a:pPr>
            <a:r>
              <a:rPr dirty="0"/>
              <a:t>2. Student Registration: insert a new student and reject duplicate SID/invalid values.</a:t>
            </a:r>
          </a:p>
          <a:p>
            <a:pPr>
              <a:spcAft>
                <a:spcPts val="600"/>
              </a:spcAft>
              <a:defRPr sz="1800" b="0"/>
            </a:pPr>
            <a:r>
              <a:rPr dirty="0"/>
              <a:t>3. Student Update: modify CGPA and show old/new values in the front end.</a:t>
            </a:r>
          </a:p>
          <a:p>
            <a:pPr>
              <a:spcAft>
                <a:spcPts val="600"/>
              </a:spcAft>
              <a:defRPr sz="1800" b="0"/>
            </a:pPr>
            <a:r>
              <a:rPr dirty="0"/>
              <a:t>4. Student Deletion: delete by SID and report whether a row actually existed.</a:t>
            </a:r>
          </a:p>
          <a:p>
            <a:pPr>
              <a:spcAft>
                <a:spcPts val="600"/>
              </a:spcAft>
              <a:defRPr sz="1800" b="0"/>
            </a:pPr>
            <a:r>
              <a:rPr dirty="0"/>
              <a:t>5. Department Report: retrieve students ordered by CGPA descending.</a:t>
            </a:r>
          </a:p>
          <a:p>
            <a:pPr>
              <a:spcAft>
                <a:spcPts val="600"/>
              </a:spcAft>
              <a:defRPr sz="1800" b="0"/>
            </a:pPr>
            <a:r>
              <a:rPr dirty="0"/>
              <a:t>6. Transaction Challenge: insert a student and a related enrollment record; commit only when both operations succeed.</a:t>
            </a:r>
          </a:p>
          <a:p>
            <a:pPr>
              <a:spcAft>
                <a:spcPts val="600"/>
              </a:spcAft>
              <a:defRPr sz="1800" b="0"/>
            </a:pPr>
            <a:r>
              <a:rPr dirty="0"/>
              <a:t>7. Error Handling: deliberately violate a constraint and display a user-friendly message while preserving database consistency.</a:t>
            </a:r>
          </a:p>
          <a:p>
            <a:pPr>
              <a:spcAft>
                <a:spcPts val="600"/>
              </a:spcAft>
              <a:defRPr sz="1800" b="0"/>
            </a:pPr>
            <a:r>
              <a:rPr dirty="0"/>
              <a:t>8. Dual Implementation: implement the same retrieval and one DML operation using both ODBC and JDBC and compare the code.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A2D9D-F6C9-3688-5965-A8C29EFD3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6043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C6C88-B531-0D35-1B68-98A867320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71800" y="295930"/>
            <a:ext cx="274786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800" dirty="0"/>
              <a:t>Advanced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350" y="1047750"/>
            <a:ext cx="8092440" cy="3370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Create a front-end login/search workflow without embedding user input directly into SQL.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Implement UPDATE using </a:t>
            </a:r>
            <a:r>
              <a:rPr sz="2000" dirty="0" err="1"/>
              <a:t>PreparedStatement</a:t>
            </a:r>
            <a:r>
              <a:rPr sz="2000" dirty="0"/>
              <a:t> and display </a:t>
            </a:r>
            <a:r>
              <a:rPr sz="2000" dirty="0" err="1"/>
              <a:t>executeUpdate</a:t>
            </a:r>
            <a:r>
              <a:rPr sz="2000" dirty="0"/>
              <a:t>() result.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Implement a transaction containing INSERT + UPDATE and demonstrate ROLLBACK.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Use </a:t>
            </a:r>
            <a:r>
              <a:rPr sz="2000" dirty="0" err="1"/>
              <a:t>ResultSetMetaData</a:t>
            </a:r>
            <a:r>
              <a:rPr sz="2000" dirty="0"/>
              <a:t> to display column names dynamically.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Create a reusable database utility class for opening connections and handling exceptions.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Add validation for NULL/blank input and invalid numeric values before database execution.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Compare a Statement-based implementation with </a:t>
            </a:r>
            <a:r>
              <a:rPr sz="2000" dirty="0" err="1"/>
              <a:t>PreparedStatement</a:t>
            </a:r>
            <a:r>
              <a:rPr sz="2000" dirty="0"/>
              <a:t> and explain the security/design difference.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Test connection failure, invalid SQL, constraint violation and no-result scenarios.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19E82-B2FC-B500-9195-0FEBB1E34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60430"/>
            <a:ext cx="2246489" cy="225920"/>
          </a:xfrm>
        </p:spPr>
        <p:txBody>
          <a:bodyPr/>
          <a:lstStyle/>
          <a:p>
            <a:r>
              <a:rPr lang="fr-FR"/>
              <a:t>Dr. Rajesh M, SCOPE, VIT Chennai.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DD224-C707-4AD8-0AAB-1FB181908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1806" y="171450"/>
            <a:ext cx="388279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800" dirty="0"/>
              <a:t>Laboratory Procedure – JDBC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350" y="857250"/>
            <a:ext cx="8092440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Install/configure the appropriate JDBC driver in the Java project.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Create the STUDENT table and sample data in Oracle.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Create a Java project and configure the JDBC driver.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Write and test the connection program.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Write SELECT retrieval using </a:t>
            </a:r>
            <a:r>
              <a:rPr sz="2000" dirty="0" err="1"/>
              <a:t>ResultSet</a:t>
            </a:r>
            <a:r>
              <a:rPr sz="2000" dirty="0"/>
              <a:t>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Write parameterized INSERT using </a:t>
            </a:r>
            <a:r>
              <a:rPr sz="2000" dirty="0" err="1"/>
              <a:t>PreparedStatement</a:t>
            </a:r>
            <a:r>
              <a:rPr sz="2000" dirty="0"/>
              <a:t>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Write parameterized UPDATE and display affected rows.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Write parameterized DELETE and display affected rows.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Test COMMIT/ROLLBACK.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Record successful output and at least two error-handling cases.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F75A8-77F7-698E-F878-92DD4E5C5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6043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EC9B9-B7EB-E135-DB9A-7FF962A83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67000" y="171450"/>
            <a:ext cx="389882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800" dirty="0"/>
              <a:t>Laboratory Procedure – ODBC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350" y="857250"/>
            <a:ext cx="80924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Install the database vendor's ODBC driver appropriate to the operating system.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Create/configure the required DSN.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Verify that the front-end language/tool can access the DSN.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Open an ODBC connection.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Execute a SELECT and fetch/display rows.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Execute parameterized INSERT/UPDATE/DELETE using the facilities of the chosen ODBC language/API.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Check affected-row counts and transaction status.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Disconnect and release resources.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Record DSN/driver configuration separately; do not expose passwords in the lab record.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31110-8686-0827-2B2A-767C228F5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60430"/>
            <a:ext cx="2246489" cy="225920"/>
          </a:xfrm>
        </p:spPr>
        <p:txBody>
          <a:bodyPr/>
          <a:lstStyle/>
          <a:p>
            <a:r>
              <a:rPr lang="fr-FR" dirty="0"/>
              <a:t>Dr. Rajesh M, SCOPE, VIT Chennai.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CDC1C-1909-65AC-D4D5-C5F0C2B82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11678" y="171450"/>
            <a:ext cx="469872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2800" dirty="0"/>
              <a:t>Common Errors and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99674"/>
            <a:ext cx="809244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dirty="0"/>
              <a:t>Connection refused / listener unavailable → verify database service, host, port and service name.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dirty="0"/>
              <a:t>Authentication failure → verify username/password and database account status.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dirty="0"/>
              <a:t>JDBC driver not found → verify the JDBC driver dependency/</a:t>
            </a:r>
            <a:r>
              <a:rPr dirty="0" err="1"/>
              <a:t>classpath</a:t>
            </a:r>
            <a:r>
              <a:rPr dirty="0"/>
              <a:t>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dirty="0"/>
              <a:t>Invalid SQL → test the SQL separately in SQL*Plus/SQL Developer.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dirty="0"/>
              <a:t>Constraint violation → validate keys, NOT NULL and CHECK conditions.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dirty="0"/>
              <a:t>No rows displayed → check </a:t>
            </a:r>
            <a:r>
              <a:rPr dirty="0" err="1"/>
              <a:t>ResultSet</a:t>
            </a:r>
            <a:r>
              <a:rPr dirty="0"/>
              <a:t> processing and the SELECT condition.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dirty="0"/>
              <a:t>UPDATE/DELETE affects 0 rows → verify the WHERE condition and report affected-row count.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dirty="0"/>
              <a:t>ODBC connection failure → verify driver installation and DSN configuration.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dirty="0"/>
              <a:t>Transaction confusion → check auto-commit, COMMIT and ROLLBACK.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2235B-7DEA-E239-E687-7E7DF1747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60430"/>
            <a:ext cx="2246489" cy="225920"/>
          </a:xfrm>
        </p:spPr>
        <p:txBody>
          <a:bodyPr/>
          <a:lstStyle/>
          <a:p>
            <a:r>
              <a:rPr lang="fr-FR"/>
              <a:t>Dr. Rajesh M, SCOPE, VIT Chennai.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F4A9F-019E-38F7-008D-8CBDA3EDB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82096" y="171450"/>
            <a:ext cx="169950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sz="3600" dirty="0"/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350" y="1076563"/>
            <a:ext cx="809244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ODBC provides a standardized connectivity interface through drivers and driver-management components.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JDBC provides Java applications with a standard API for database connectivity.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Both approaches allow front ends to issue SQL and process database results.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SELECT operations require result-set processing.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INSERT, UPDATE and DELETE require careful parameter handling and transaction control.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Prepared/parameterized statements are preferred for user-supplied values.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pPr>
            <a:r>
              <a:rPr sz="2000" dirty="0"/>
              <a:t>Good front-end database programs validate input, handle errors, manage transactions and release resources.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BBDA5-51B1-6394-0FFC-87331F75F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97511" y="4860430"/>
            <a:ext cx="2246489" cy="225920"/>
          </a:xfrm>
        </p:spPr>
        <p:txBody>
          <a:bodyPr/>
          <a:lstStyle/>
          <a:p>
            <a:r>
              <a:rPr lang="fr-FR"/>
              <a:t>Dr. Rajesh M, SCOPE, VIT Chennai.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D8B01-65F1-2DF1-E2AF-525A71A08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341B94-0C40-41DD-ACC1-5448BD5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962150"/>
            <a:ext cx="8077200" cy="60960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cs typeface="Times New Roman" panose="02020603050405020304" pitchFamily="18" charset="0"/>
              </a:rPr>
              <a:t>Thank You!..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97511" y="4860430"/>
            <a:ext cx="2246489" cy="225920"/>
          </a:xfrm>
        </p:spPr>
        <p:txBody>
          <a:bodyPr/>
          <a:lstStyle/>
          <a:p>
            <a:r>
              <a:rPr lang="fr-FR"/>
              <a:t>Dr. Rajesh M, SCOPE, VIT Chennai.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957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erspective">
  <a:themeElements>
    <a:clrScheme name="Perspective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Custom 2">
      <a:majorFont>
        <a:latin typeface="Agency FB"/>
        <a:ea typeface=""/>
        <a:cs typeface=""/>
      </a:majorFont>
      <a:minorFont>
        <a:latin typeface="Agency FB"/>
        <a:ea typeface=""/>
        <a:cs typeface=""/>
      </a:minorFont>
    </a:fontScheme>
    <a:fmtScheme name="Perspec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63AE7DE87AE343A634347F8DDCD9D2" ma:contentTypeVersion="0" ma:contentTypeDescription="Create a new document." ma:contentTypeScope="" ma:versionID="5e82e9ea49d6d623f27666c164887d7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8DE7C99-BCE6-4707-8C54-BDC0BA63D0E3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308F3F1-5932-4842-9E46-F677547D21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2FA3503-92B1-403D-A9BA-2BE39B97FD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Perspective</Template>
  <TotalTime>5116</TotalTime>
  <Words>4219</Words>
  <Application>Microsoft Office PowerPoint</Application>
  <PresentationFormat>On-screen Show (16:9)</PresentationFormat>
  <Paragraphs>405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Agency FB</vt:lpstr>
      <vt:lpstr>Aptos</vt:lpstr>
      <vt:lpstr>Calibri</vt:lpstr>
      <vt:lpstr>Times New Roman</vt:lpstr>
      <vt:lpstr>Wingdings</vt:lpstr>
      <vt:lpstr>Perspective</vt:lpstr>
      <vt:lpstr>BACSE202: Database Systems Lab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vitbpl</dc:creator>
  <cp:lastModifiedBy>Rajesh M</cp:lastModifiedBy>
  <cp:revision>364</cp:revision>
  <dcterms:created xsi:type="dcterms:W3CDTF">2006-08-16T00:00:00Z</dcterms:created>
  <dcterms:modified xsi:type="dcterms:W3CDTF">2026-09-15T09:58:00Z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0x010100EC63AE7DE87AE343A634347F8DDCD9D2</vt:lpwstr>
  </property>
</Properties>
</file>